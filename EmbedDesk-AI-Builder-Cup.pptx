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svg" ContentType="image/svg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9.xml" ContentType="application/vnd.openxmlformats-officedocument.presentationml.slide+xml"/>
  <Override PartName="/ppt/slides/slide2.xml" ContentType="application/vnd.openxmlformats-officedocument.presentationml.slide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3" Type="http://schemas.openxmlformats.org/officeDocument/2006/relationships/custom-properties" Target="docProps/custom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1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 /><Relationship Id="rId0" Type="http://schemas.openxmlformats.org/officeDocument/2006/relationships/slideMaster" Target="slideMasters/slideMaster1.xml" /><Relationship Id="rId10" Type="http://schemas.openxmlformats.org/officeDocument/2006/relationships/slide" Target="slides/slide10.xml" /><Relationship Id="rId13" Type="http://schemas.openxmlformats.org/officeDocument/2006/relationships/tableStyles" Target="tableStyles.xml" /><Relationship Id="rId11" Type="http://schemas.openxmlformats.org/officeDocument/2006/relationships/notesMaster" Target="notesMasters/notesMaster1.xml" /><Relationship Id="rId12" Type="http://schemas.openxmlformats.org/officeDocument/2006/relationships/presProps" Target="presProps.xml" /><Relationship Id="rId9" Type="http://schemas.openxmlformats.org/officeDocument/2006/relationships/slide" Target="slides/slide9.xml" /><Relationship Id="rId2" Type="http://schemas.openxmlformats.org/officeDocument/2006/relationships/slide" Target="slides/slide2.xml" /><Relationship Id="rId14" Type="http://schemas.openxmlformats.org/officeDocument/2006/relationships/viewProps" Target="viewProps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image" Target="media/image1.svg" /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image" Target="media/image2.svg" /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sv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image" Target="media/image4.svg" /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image" Target="media/image1.svg" /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position:'relative', width:'1280px', height:'720px', background:'#070b16', padding:0 }}&gt;&#10;  &lt;Image src=&quot;assets/tech_hero.svg&quot; style={{ position:'absolute', top:0, left:0, width:'1280px', height:'720px', objectFit:'cover' }} /&gt;&#10;  &lt;Box style={{ position:'absolute', left:80, top:200, width:800 }}&gt;&#10;    &lt;Text style={{ fontSize:66, fontWeight:'bold', color:'#f1f5f9', letterSpacing:1 }}&gt;EmbedDesk&lt;/Text&gt;&#10;    &lt;Box style={{ width:96, height:8, background:'linear-gradient(135deg,#38bdf8,#818cf8)', borderRadius:4, margin:'16px 0 20px' }} /&gt;&#10;    &lt;Text style={{ fontSize:30, color:'#7dd3fc' }}&gt;一行代码，把专家级客服装进任意网站&lt;/Text&gt;&#10;    &lt;Text style={{ fontSize:20, color:'#cbd5e1', marginTop:18 }}&gt;嵌入式 AI 客服 Agent · 基于 Google Cloud 构建&lt;/Text&gt;&#10;  &lt;/Box&gt;&#10;  &lt;Box style={{ position:'absolute', left:80, bottom:44 }}&gt;&#10;    &lt;Text style={{ fontSize:16, color:'#64748b' }}&gt;Google Cloud · AI Builder Cup 2026 · JAPAC · Future of Work &amp;amp; Enterprise Productivity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70B16"/>
          </a:solidFill>
          <a:ln/>
        </p:spPr>
        <p:txBody>
          <a:bodyPr/>
          <a:p/>
        </p:txBody>
      </p:sp>
      <p:pic>
        <p:nvPicPr>
          <p:cNvPr id="3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762000" y="1905000"/>
            <a:ext cx="7620000" cy="762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950" b="1" spc="75">
                <a:solidFill>
                  <a:srgbClr val="F1F5F9"/>
                </a:solidFill>
                <a:latin typeface="Microsoft YaHei"/>
                <a:ea typeface="Microsoft YaHei"/>
              </a:rPr>
              <a:t>EmbedDesk</a:t>
            </a:r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762000" y="2819400"/>
            <a:ext cx="914400" cy="762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8BDF8"/>
              </a:gs>
              <a:gs pos="100000">
                <a:srgbClr val="818CF8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762000" y="3086100"/>
            <a:ext cx="76200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>
                <a:solidFill>
                  <a:srgbClr val="7DD3FC"/>
                </a:solidFill>
                <a:latin typeface="Microsoft YaHei"/>
                <a:ea typeface="Microsoft YaHei"/>
              </a:rPr>
              <a:t>一行代码，把专家级客服装进任意网站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762000" y="3600450"/>
            <a:ext cx="7620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CBD5E1"/>
                </a:solidFill>
                <a:latin typeface="Microsoft YaHei"/>
                <a:ea typeface="Microsoft YaHei"/>
              </a:rPr>
              <a:t>嵌入式</a:t>
            </a:r>
            <a:r>
              <a:rPr lang="en-US" sz="1500">
                <a:solidFill>
                  <a:srgbClr val="CBD5E1"/>
                </a:solidFill>
                <a:latin typeface="Microsoft YaHei"/>
                <a:ea typeface="Microsoft YaHei"/>
              </a:rPr>
              <a:t xml:space="preserve"> AI </a:t>
            </a:r>
            <a:r>
              <a:rPr lang="zh-CN" sz="1500">
                <a:solidFill>
                  <a:srgbClr val="CBD5E1"/>
                </a:solidFill>
                <a:latin typeface="Microsoft YaHei"/>
                <a:ea typeface="Microsoft YaHei"/>
              </a:rPr>
              <a:t>客服</a:t>
            </a:r>
            <a:r>
              <a:rPr lang="en-US" sz="1500">
                <a:solidFill>
                  <a:srgbClr val="CBD5E1"/>
                </a:solidFill>
                <a:latin typeface="Microsoft YaHei"/>
                <a:ea typeface="Microsoft YaHei"/>
              </a:rPr>
              <a:t xml:space="preserve"> Agent · </a:t>
            </a:r>
            <a:r>
              <a:rPr lang="zh-CN" sz="1500">
                <a:solidFill>
                  <a:srgbClr val="CBD5E1"/>
                </a:solidFill>
                <a:latin typeface="Microsoft YaHei"/>
                <a:ea typeface="Microsoft YaHei"/>
              </a:rPr>
              <a:t>基于</a:t>
            </a:r>
            <a:r>
              <a:rPr lang="en-US" sz="1500">
                <a:solidFill>
                  <a:srgbClr val="CBD5E1"/>
                </a:solidFill>
                <a:latin typeface="Microsoft YaHei"/>
                <a:ea typeface="Microsoft YaHei"/>
              </a:rPr>
              <a:t xml:space="preserve"> Google Cloud </a:t>
            </a:r>
            <a:r>
              <a:rPr lang="zh-CN" sz="1500">
                <a:solidFill>
                  <a:srgbClr val="CBD5E1"/>
                </a:solidFill>
                <a:latin typeface="Microsoft YaHei"/>
                <a:ea typeface="Microsoft YaHei"/>
              </a:rPr>
              <a:t>构建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762000" y="6248400"/>
            <a:ext cx="62579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64748B"/>
                </a:solidFill>
                <a:latin typeface="Microsoft YaHei"/>
                <a:ea typeface="Microsoft YaHei"/>
              </a:rPr>
              <a:t>Google Cloud · AI Builder Cup 2026 · JAPAC · Future of Work &amp; Enterprise Productivity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25" name="" descr="&lt;Slide style={{ position:'relative', width:'1280px', height:'720px', background:'#0B1224', padding:'0 72px' }}&gt;&#10;  &lt;Box style={{ position:'absolute', top:28, left:72, right:72, height:70, flexDirection:'row', alignItems:'center', gap:16 }}&gt;&#10;    &lt;Box style={{ width:8, height:40, background:'linear-gradient(135deg,#38bdf8,#818cf8)', borderRadius:4 }} /&gt;&#10;    &lt;Text style={{ fontSize:34, fontWeight:'bold', color:'#f1f5f9' }}&gt;工业设备厂商的客服断层&lt;/Text&gt;&#10;  &lt;/Box&gt;&#10;  &lt;Box style={{ position:'absolute', top:130, left:72, right:72, bottom:70, flexDirection:'row', gap:32 }}&gt;&#10;    &lt;Box style={{ flex:6, flexDirection:'column', gap:24 }}&gt;&#10;      &lt;Box style={{ background:'#111C33', borderRadius:16, padding:28, borderLeft:'4px solid #38bdf8' }}&gt;&#10;        &lt;Text style={{ fontSize:24, fontWeight:'bold', color:'#e2e8f0' }}&gt;① 专业问题应答慢&lt;/Text&gt;&#10;        &lt;Text style={{ fontSize:20, color:'#94a3b8', marginTop:10, lineHeight:1.5 }}&gt;产品参数、选型、接口问题依赖资深工程师，首响以小时计——访客在等待中流失。&lt;/Text&gt;&#10;      &lt;/Box&gt;&#10;      &lt;Box style={{ background:'#111C33', borderRadius:16, padding:28, borderLeft:'4px solid #818cf8' }}&gt;&#10;        &lt;Text style={{ fontSize:24, fontWeight:'bold', color:'#e2e8f0' }}&gt;② 购买意图流失&lt;/Text&gt;&#10;        &lt;Text style={{ fontSize:20, color:'#94a3b8', marginTop:10, lineHeight:1.5 }}&gt;会话里流露采购信号，客服只当&quot;咨询&quot;处理，没有流转到销售——线索石沉大海。&lt;/Text&gt;&#10;      &lt;/Box&gt;&#10;    &lt;/Box&gt;&#10;    &lt;Box style={{ flex:4, background:'linear-gradient(160deg,#0e1830,#13203c)', borderRadius:16, padding:28, justifyContent:'center' }}&gt;&#10;      &lt;Text style={{ fontSize:18, color:'#7dd3fc', letterSpacing:1 }}&gt;所以呢&lt;/Text&gt;&#10;      &lt;Text style={{ fontSize:40, fontWeight:'bold', color:'#f1f5f9', marginTop:12 }}&gt;客服 ≠ 增长&lt;/Text&gt;&#10;      &lt;Text style={{ fontSize:20, color:'#cbd5e1', marginTop:14, lineHeight:1.6 }}&gt;高价值的售前咨询被浪费，专家时间被重复问题消耗。&lt;/Text&gt;&#10;    &lt;/Box&gt;&#10;  &lt;/Box&gt;&#10;  &lt;Box style={{ position:'absolute', bottom:22, left:72, right:72, flexDirection:'row', justifyContent:'space-between' }}&gt;&#10;    &lt;Text style={{ fontSize:14, color:'#475569' }}&gt;EmbedDesk · AI Builder Cup 2026&lt;/Text&gt;&#10;    &lt;Text style={{ fontSize:14, color:'#475569' }}&gt;02 / 10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4"/>
          </a:solidFill>
          <a:ln/>
        </p:spPr>
        <p:txBody>
          <a:bodyPr/>
          <a:p/>
        </p:txBody>
      </p:sp>
      <p:sp>
        <p:nvSpPr>
          <p:cNvPr id="27" name=""/>
          <p:cNvSpPr/>
          <p:nvPr/>
        </p:nvSpPr>
        <p:spPr>
          <a:xfrm rot="0" flipH="0" flipV="0">
            <a:off x="685800" y="409575"/>
            <a:ext cx="76200" cy="3810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8BDF8"/>
              </a:gs>
              <a:gs pos="100000">
                <a:srgbClr val="818CF8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914400" y="409575"/>
            <a:ext cx="35623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1F5F9"/>
                </a:solidFill>
                <a:latin typeface="Microsoft YaHei"/>
                <a:ea typeface="Microsoft YaHei"/>
              </a:rPr>
              <a:t>工业设备厂商的客服断层</a:t>
            </a:r>
            <a:endParaRPr/>
          </a:p>
        </p:txBody>
      </p:sp>
      <p:sp>
        <p:nvSpPr>
          <p:cNvPr id="29" name=""/>
          <p:cNvSpPr/>
          <p:nvPr/>
        </p:nvSpPr>
        <p:spPr>
          <a:xfrm rot="0" flipH="0" flipV="0">
            <a:off x="723900" y="1238250"/>
            <a:ext cx="6305550" cy="1590675"/>
          </a:xfrm>
          <a:prstGeom prst="roundRect">
            <a:avLst>
              <a:gd name="adj" fmla="val 9581"/>
            </a:avLst>
          </a:prstGeom>
          <a:solidFill>
            <a:srgbClr val="111C33"/>
          </a:solidFill>
          <a:ln/>
        </p:spPr>
        <p:txBody>
          <a:bodyPr/>
          <a:p/>
        </p:txBody>
      </p:sp>
      <p:sp>
        <p:nvSpPr>
          <p:cNvPr id="30" name=""/>
          <p:cNvSpPr/>
          <p:nvPr/>
        </p:nvSpPr>
        <p:spPr>
          <a:xfrm rot="0" flipH="0" flipV="0">
            <a:off x="723900" y="1238250"/>
            <a:ext cx="6305550" cy="1590675"/>
          </a:xfrm>
          <a:custGeom>
            <a:pathLst>
              <a:path w="662" h="167">
                <a:moveTo>
                  <a:pt x="15" y="0"/>
                </a:moveTo>
                <a:cubicBezTo>
                  <a:pt x="9" y="1"/>
                  <a:pt x="4" y="6"/>
                  <a:pt x="4" y="12"/>
                </a:cubicBezTo>
                <a:lnTo>
                  <a:pt x="4" y="155"/>
                </a:lnTo>
                <a:cubicBezTo>
                  <a:pt x="4" y="160"/>
                  <a:pt x="8" y="165"/>
                  <a:pt x="13" y="167"/>
                </a:cubicBezTo>
                <a:cubicBezTo>
                  <a:pt x="5" y="165"/>
                  <a:pt x="0" y="159"/>
                  <a:pt x="0" y="151"/>
                </a:cubicBezTo>
                <a:lnTo>
                  <a:pt x="0" y="16"/>
                </a:lnTo>
                <a:cubicBezTo>
                  <a:pt x="0" y="7"/>
                  <a:pt x="7" y="0"/>
                  <a:pt x="15" y="0"/>
                </a:cubicBez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990600" y="1504950"/>
            <a:ext cx="57340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E2E8F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800" b="1">
                <a:solidFill>
                  <a:srgbClr val="E2E8F0"/>
                </a:solidFill>
                <a:latin typeface="Microsoft YaHei"/>
                <a:ea typeface="Microsoft YaHei"/>
              </a:rPr>
              <a:t>专业问题应答慢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990600" y="1876425"/>
            <a:ext cx="573405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00">
                <a:solidFill>
                  <a:srgbClr val="94A3B8"/>
                </a:solidFill>
                <a:latin typeface="Microsoft YaHei"/>
                <a:ea typeface="Microsoft YaHei"/>
              </a:rPr>
              <a:t>产品参数、选型、接口问题依赖资深工程师，首响以小时计——访客在等待中流失。</a:t>
            </a:r>
            <a:endParaRPr/>
          </a:p>
        </p:txBody>
      </p:sp>
      <p:sp>
        <p:nvSpPr>
          <p:cNvPr id="33" name=""/>
          <p:cNvSpPr/>
          <p:nvPr/>
        </p:nvSpPr>
        <p:spPr>
          <a:xfrm rot="0" flipH="0" flipV="0">
            <a:off x="723900" y="3057525"/>
            <a:ext cx="6305550" cy="1590675"/>
          </a:xfrm>
          <a:prstGeom prst="roundRect">
            <a:avLst>
              <a:gd name="adj" fmla="val 9581"/>
            </a:avLst>
          </a:prstGeom>
          <a:solidFill>
            <a:srgbClr val="111C33"/>
          </a:solidFill>
          <a:ln/>
        </p:spPr>
        <p:txBody>
          <a:bodyPr/>
          <a:p/>
        </p:txBody>
      </p:sp>
      <p:sp>
        <p:nvSpPr>
          <p:cNvPr id="34" name=""/>
          <p:cNvSpPr/>
          <p:nvPr/>
        </p:nvSpPr>
        <p:spPr>
          <a:xfrm rot="0" flipH="0" flipV="0">
            <a:off x="723900" y="3057525"/>
            <a:ext cx="6305550" cy="1590675"/>
          </a:xfrm>
          <a:custGeom>
            <a:pathLst>
              <a:path w="662" h="167">
                <a:moveTo>
                  <a:pt x="15" y="0"/>
                </a:moveTo>
                <a:cubicBezTo>
                  <a:pt x="9" y="1"/>
                  <a:pt x="4" y="6"/>
                  <a:pt x="4" y="12"/>
                </a:cubicBezTo>
                <a:lnTo>
                  <a:pt x="4" y="155"/>
                </a:lnTo>
                <a:cubicBezTo>
                  <a:pt x="4" y="160"/>
                  <a:pt x="8" y="165"/>
                  <a:pt x="13" y="167"/>
                </a:cubicBezTo>
                <a:cubicBezTo>
                  <a:pt x="5" y="165"/>
                  <a:pt x="0" y="159"/>
                  <a:pt x="0" y="151"/>
                </a:cubicBezTo>
                <a:lnTo>
                  <a:pt x="0" y="16"/>
                </a:lnTo>
                <a:cubicBezTo>
                  <a:pt x="0" y="7"/>
                  <a:pt x="7" y="0"/>
                  <a:pt x="15" y="0"/>
                </a:cubicBezTo>
                <a:close/>
              </a:path>
            </a:pathLst>
          </a:custGeom>
          <a:solidFill>
            <a:srgbClr val="818CF8"/>
          </a:solidFill>
          <a:ln/>
        </p:spPr>
        <p:txBody>
          <a:bodyPr/>
          <a:p/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990600" y="3324225"/>
            <a:ext cx="573405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b="1">
                <a:solidFill>
                  <a:srgbClr val="E2E8F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800" b="1">
                <a:solidFill>
                  <a:srgbClr val="E2E8F0"/>
                </a:solidFill>
                <a:latin typeface="Microsoft YaHei"/>
                <a:ea typeface="Microsoft YaHei"/>
              </a:rPr>
              <a:t>购买意图流失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990600" y="3695700"/>
            <a:ext cx="5734050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500">
                <a:solidFill>
                  <a:srgbClr val="94A3B8"/>
                </a:solidFill>
                <a:latin typeface="Microsoft YaHei"/>
                <a:ea typeface="Microsoft YaHei"/>
              </a:rPr>
              <a:t>会话里流露采购信号，客服只当</a:t>
            </a:r>
            <a:r>
              <a:rPr lang="en-US" sz="1500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500">
                <a:solidFill>
                  <a:srgbClr val="94A3B8"/>
                </a:solidFill>
                <a:latin typeface="Microsoft YaHei"/>
                <a:ea typeface="Microsoft YaHei"/>
              </a:rPr>
              <a:t>咨询</a:t>
            </a:r>
            <a:r>
              <a:rPr lang="en-US" sz="1500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500">
                <a:solidFill>
                  <a:srgbClr val="94A3B8"/>
                </a:solidFill>
                <a:latin typeface="Microsoft YaHei"/>
                <a:ea typeface="Microsoft YaHei"/>
              </a:rPr>
              <a:t>处理，没有流转到销售——线索石沉大海。</a:t>
            </a:r>
            <a:endParaRPr/>
          </a:p>
        </p:txBody>
      </p:sp>
      <p:sp>
        <p:nvSpPr>
          <p:cNvPr id="37" name=""/>
          <p:cNvSpPr/>
          <p:nvPr/>
        </p:nvSpPr>
        <p:spPr>
          <a:xfrm rot="0" flipH="0" flipV="0">
            <a:off x="7296150" y="1238250"/>
            <a:ext cx="4210050" cy="4953000"/>
          </a:xfrm>
          <a:prstGeom prst="roundRect">
            <a:avLst>
              <a:gd name="adj" fmla="val 3620"/>
            </a:avLst>
          </a:prstGeom>
          <a:gradFill>
            <a:gsLst>
              <a:gs pos="0">
                <a:srgbClr val="0E1830"/>
              </a:gs>
              <a:gs pos="100000">
                <a:srgbClr val="13203C"/>
              </a:gs>
            </a:gsLst>
            <a:lin ang="4200000" scaled="1"/>
          </a:gradFill>
          <a:ln/>
        </p:spPr>
        <p:txBody>
          <a:bodyPr/>
          <a:p/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7562850" y="2895600"/>
            <a:ext cx="36766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spc="75">
                <a:solidFill>
                  <a:srgbClr val="7DD3FC"/>
                </a:solidFill>
                <a:latin typeface="Microsoft YaHei"/>
                <a:ea typeface="Microsoft YaHei"/>
              </a:rPr>
              <a:t>所以呢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562850" y="3219450"/>
            <a:ext cx="3676650" cy="4572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F1F5F9"/>
                </a:solidFill>
                <a:latin typeface="Microsoft YaHei"/>
                <a:ea typeface="Microsoft YaHei"/>
              </a:rPr>
              <a:t>客服</a:t>
            </a:r>
            <a:r>
              <a:rPr lang="en-US" sz="3000" b="1">
                <a:solidFill>
                  <a:srgbClr val="F1F5F9"/>
                </a:solidFill>
                <a:latin typeface="Microsoft YaHei"/>
                <a:ea typeface="Microsoft YaHei"/>
              </a:rPr>
              <a:t xml:space="preserve"> ≠ </a:t>
            </a:r>
            <a:r>
              <a:rPr lang="zh-CN" sz="3000" b="1">
                <a:solidFill>
                  <a:srgbClr val="F1F5F9"/>
                </a:solidFill>
                <a:latin typeface="Microsoft YaHei"/>
                <a:ea typeface="Microsoft YaHei"/>
              </a:rPr>
              <a:t>增长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7562850" y="3810000"/>
            <a:ext cx="3676650" cy="7334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500">
                <a:solidFill>
                  <a:srgbClr val="CBD5E1"/>
                </a:solidFill>
                <a:latin typeface="Microsoft YaHei"/>
                <a:ea typeface="Microsoft YaHei"/>
              </a:rPr>
              <a:t>高价值的售前咨询被浪费，专家时间被重复问题消耗。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685800" y="6486525"/>
            <a:ext cx="2143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EmbedDesk · AI Builder Cup 2026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11049000" y="64865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02 / 10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3" name="" descr="&lt;Slide style={{ position:'relative', width:'1280px', height:'720px', background:'#0B1224', padding:'0 72px' }}&gt;&#10;  &lt;Box style={{ position:'absolute', top:28, left:72, right:72, height:70, flexDirection:'row', alignItems:'center', gap:16 }}&gt;&#10;    &lt;Box style={{ width:8, height:40, background:'linear-gradient(135deg,#38bdf8,#818cf8)', borderRadius:4 }} /&gt;&#10;    &lt;Text style={{ fontSize:34, fontWeight:'bold', color:'#f1f5f9' }}&gt;我们建造了什么&lt;/Text&gt;&#10;  &lt;/Box&gt;&#10;  &lt;Box style={{ position:'absolute', top:120, left:72, right:72, bottom:70, flexDirection:'row', gap:32 }}&gt;&#10;    &lt;Box style={{ flex:55, background:'#0e1830', borderRadius:16, padding:18, justifyContent:'center', alignItems:'center' }}&gt;&#10;      &lt;Image src=&quot;assets/solution_concept.svg&quot; style={{ width:'100%', height:'100%', objectFit:'contain' }} /&gt;&#10;    &lt;/Box&gt;&#10;    &lt;Box style={{ flex:45, flexDirection:'column', gap:18, justifyContent:'center' }}&gt;&#10;      &lt;Box style={{ background:'#111C33', borderRadius:14, padding:20, borderLeft:'4px solid #38bdf8' }}&gt;&#10;        &lt;Text style={{ fontSize:22, fontWeight:'bold', color:'#e2e8f0' }}&gt;真实资料作答&lt;/Text&gt;&#10;        &lt;Text style={{ fontSize:18, color:'#94a3b8', marginTop:8, lineHeight:1.5 }}&gt;检索 16 款端侧 AI / IoT 模组知识库，回复附引用来源。&lt;/Text&gt;&#10;      &lt;/Box&gt;&#10;      &lt;Box style={{ background:'#111C33', borderRadius:14, padding:20, borderLeft:'4px solid #818cf8' }}&gt;&#10;        &lt;Text style={{ fontSize:22, fontWeight:'bold', color:'#e2e8f0' }}&gt;意图识别 + 自动建单&lt;/Text&gt;&#10;        &lt;Text style={{ fontSize:18, color:'#94a3b8', marginTop:8, lineHeight:1.5 }}&gt;识别购买信号自动创建结构化工单并通知销售。&lt;/Text&gt;&#10;      &lt;/Box&gt;&#10;      &lt;Box style={{ background:'#111C33', borderRadius:14, padding:20, borderLeft:'4px solid #22d3ee' }}&gt;&#10;        &lt;Text style={{ fontSize:22, fontWeight:'bold', color:'#e2e8f0' }}&gt;全渠道同源&lt;/Text&gt;&#10;        &lt;Text style={{ fontSize:18, color:'#94a3b8', marginTop:8, lineHeight:1.5 }}&gt;Web / 嵌入挂件 / IM / 邮件四端同一 Agent 内核。&lt;/Text&gt;&#10;      &lt;/Box&gt;&#10;    &lt;/Box&gt;&#10;  &lt;/Box&gt;&#10;  &lt;Box style={{ position:'absolute', bottom:22, left:72, right:72, flexDirection:'row', justifyContent:'space-between' }}&gt;&#10;    &lt;Text style={{ fontSize:14, color:'#475569' }}&gt;EmbedDesk · AI Builder Cup 2026&lt;/Text&gt;&#10;    &lt;Text style={{ fontSize:14, color:'#475569' }}&gt;03 / 10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4"/>
          </a:solidFill>
          <a:ln/>
        </p:spPr>
        <p:txBody>
          <a:bodyPr/>
          <a:p/>
        </p:txBody>
      </p:sp>
      <p:sp>
        <p:nvSpPr>
          <p:cNvPr id="45" name=""/>
          <p:cNvSpPr/>
          <p:nvPr/>
        </p:nvSpPr>
        <p:spPr>
          <a:xfrm rot="0" flipH="0" flipV="0">
            <a:off x="685800" y="409575"/>
            <a:ext cx="76200" cy="3810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8BDF8"/>
              </a:gs>
              <a:gs pos="100000">
                <a:srgbClr val="818CF8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914400" y="409575"/>
            <a:ext cx="22669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1F5F9"/>
                </a:solidFill>
                <a:latin typeface="Microsoft YaHei"/>
                <a:ea typeface="Microsoft YaHei"/>
              </a:rPr>
              <a:t>我们建造了什么</a:t>
            </a:r>
            <a:endParaRPr/>
          </a:p>
        </p:txBody>
      </p:sp>
      <p:sp>
        <p:nvSpPr>
          <p:cNvPr id="47" name=""/>
          <p:cNvSpPr/>
          <p:nvPr/>
        </p:nvSpPr>
        <p:spPr>
          <a:xfrm rot="0" flipH="0" flipV="0">
            <a:off x="685800" y="1143000"/>
            <a:ext cx="5781675" cy="5048250"/>
          </a:xfrm>
          <a:prstGeom prst="roundRect">
            <a:avLst>
              <a:gd name="adj" fmla="val 3019"/>
            </a:avLst>
          </a:prstGeom>
          <a:solidFill>
            <a:srgbClr val="0E1830"/>
          </a:solidFill>
          <a:ln/>
        </p:spPr>
        <p:txBody>
          <a:bodyPr/>
          <a:p/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rcRect l="10457" t="0" r="10457" b="0"/>
          <a:stretch>
            <a:fillRect/>
          </a:stretch>
        </p:blipFill>
        <p:spPr>
          <a:xfrm rot="0" flipH="0" flipV="0">
            <a:off x="857250" y="1314450"/>
            <a:ext cx="5438775" cy="4705350"/>
          </a:xfrm>
          <a:prstGeom prst="rect">
            <a:avLst/>
          </a:prstGeom>
          <a:ln/>
        </p:spPr>
      </p:pic>
      <p:sp>
        <p:nvSpPr>
          <p:cNvPr id="49" name=""/>
          <p:cNvSpPr/>
          <p:nvPr/>
        </p:nvSpPr>
        <p:spPr>
          <a:xfrm rot="0" flipH="0" flipV="0">
            <a:off x="6810375" y="1952625"/>
            <a:ext cx="4733925" cy="1028700"/>
          </a:xfrm>
          <a:prstGeom prst="roundRect">
            <a:avLst>
              <a:gd name="adj" fmla="val 12963"/>
            </a:avLst>
          </a:prstGeom>
          <a:solidFill>
            <a:srgbClr val="111C33"/>
          </a:solidFill>
          <a:ln/>
        </p:spPr>
        <p:txBody>
          <a:bodyPr/>
          <a:p/>
        </p:txBody>
      </p:sp>
      <p:sp>
        <p:nvSpPr>
          <p:cNvPr id="50" name=""/>
          <p:cNvSpPr/>
          <p:nvPr/>
        </p:nvSpPr>
        <p:spPr>
          <a:xfrm rot="0" flipH="0" flipV="0">
            <a:off x="6810375" y="1952625"/>
            <a:ext cx="4733925" cy="1028700"/>
          </a:xfrm>
          <a:custGeom>
            <a:pathLst>
              <a:path w="497" h="108">
                <a:moveTo>
                  <a:pt x="13" y="0"/>
                </a:moveTo>
                <a:cubicBezTo>
                  <a:pt x="8" y="1"/>
                  <a:pt x="4" y="5"/>
                  <a:pt x="4" y="10"/>
                </a:cubicBezTo>
                <a:lnTo>
                  <a:pt x="4" y="98"/>
                </a:lnTo>
                <a:cubicBezTo>
                  <a:pt x="4" y="102"/>
                  <a:pt x="7" y="106"/>
                  <a:pt x="11" y="108"/>
                </a:cubicBezTo>
                <a:cubicBezTo>
                  <a:pt x="5" y="106"/>
                  <a:pt x="0" y="101"/>
                  <a:pt x="0" y="94"/>
                </a:cubicBezTo>
                <a:lnTo>
                  <a:pt x="0" y="14"/>
                </a:lnTo>
                <a:cubicBezTo>
                  <a:pt x="0" y="6"/>
                  <a:pt x="6" y="0"/>
                  <a:pt x="14" y="0"/>
                </a:cubicBez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/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7000875" y="2143125"/>
            <a:ext cx="43148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E2E8F0"/>
                </a:solidFill>
                <a:latin typeface="Microsoft YaHei"/>
                <a:ea typeface="Microsoft YaHei"/>
              </a:rPr>
              <a:t>真实资料作答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000875" y="2476500"/>
            <a:ext cx="431482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检索</a:t>
            </a:r>
            <a:r>
              <a:rPr lang="en-US" sz="1350">
                <a:solidFill>
                  <a:srgbClr val="94A3B8"/>
                </a:solidFill>
                <a:latin typeface="Microsoft YaHei"/>
                <a:ea typeface="Microsoft YaHei"/>
              </a:rPr>
              <a:t xml:space="preserve"> 16 </a:t>
            </a: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款端侧</a:t>
            </a:r>
            <a:r>
              <a:rPr lang="en-US" sz="1350">
                <a:solidFill>
                  <a:srgbClr val="94A3B8"/>
                </a:solidFill>
                <a:latin typeface="Microsoft YaHei"/>
                <a:ea typeface="Microsoft YaHei"/>
              </a:rPr>
              <a:t xml:space="preserve"> AI / IoT </a:t>
            </a: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模组知识库，回复附引用来源。</a:t>
            </a:r>
            <a:endParaRPr/>
          </a:p>
        </p:txBody>
      </p:sp>
      <p:sp>
        <p:nvSpPr>
          <p:cNvPr id="53" name=""/>
          <p:cNvSpPr/>
          <p:nvPr/>
        </p:nvSpPr>
        <p:spPr>
          <a:xfrm rot="0" flipH="0" flipV="0">
            <a:off x="6810375" y="3152775"/>
            <a:ext cx="4733925" cy="1028700"/>
          </a:xfrm>
          <a:prstGeom prst="roundRect">
            <a:avLst>
              <a:gd name="adj" fmla="val 12963"/>
            </a:avLst>
          </a:prstGeom>
          <a:solidFill>
            <a:srgbClr val="111C33"/>
          </a:solidFill>
          <a:ln/>
        </p:spPr>
        <p:txBody>
          <a:bodyPr/>
          <a:p/>
        </p:txBody>
      </p:sp>
      <p:sp>
        <p:nvSpPr>
          <p:cNvPr id="54" name=""/>
          <p:cNvSpPr/>
          <p:nvPr/>
        </p:nvSpPr>
        <p:spPr>
          <a:xfrm rot="0" flipH="0" flipV="0">
            <a:off x="6810375" y="3152775"/>
            <a:ext cx="4733925" cy="1028700"/>
          </a:xfrm>
          <a:custGeom>
            <a:pathLst>
              <a:path w="497" h="108">
                <a:moveTo>
                  <a:pt x="13" y="0"/>
                </a:moveTo>
                <a:cubicBezTo>
                  <a:pt x="8" y="1"/>
                  <a:pt x="4" y="5"/>
                  <a:pt x="4" y="10"/>
                </a:cubicBezTo>
                <a:lnTo>
                  <a:pt x="4" y="98"/>
                </a:lnTo>
                <a:cubicBezTo>
                  <a:pt x="4" y="102"/>
                  <a:pt x="7" y="106"/>
                  <a:pt x="11" y="108"/>
                </a:cubicBezTo>
                <a:cubicBezTo>
                  <a:pt x="5" y="106"/>
                  <a:pt x="0" y="101"/>
                  <a:pt x="0" y="94"/>
                </a:cubicBezTo>
                <a:lnTo>
                  <a:pt x="0" y="14"/>
                </a:lnTo>
                <a:cubicBezTo>
                  <a:pt x="0" y="6"/>
                  <a:pt x="6" y="0"/>
                  <a:pt x="14" y="0"/>
                </a:cubicBezTo>
                <a:close/>
              </a:path>
            </a:pathLst>
          </a:custGeom>
          <a:solidFill>
            <a:srgbClr val="818CF8"/>
          </a:solidFill>
          <a:ln/>
        </p:spPr>
        <p:txBody>
          <a:bodyPr/>
          <a:p/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7000875" y="3343275"/>
            <a:ext cx="43148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E2E8F0"/>
                </a:solidFill>
                <a:latin typeface="Microsoft YaHei"/>
                <a:ea typeface="Microsoft YaHei"/>
              </a:rPr>
              <a:t>意图识别</a:t>
            </a:r>
            <a:r>
              <a:rPr lang="en-US" sz="1650" b="1">
                <a:solidFill>
                  <a:srgbClr val="E2E8F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650" b="1">
                <a:solidFill>
                  <a:srgbClr val="E2E8F0"/>
                </a:solidFill>
                <a:latin typeface="Microsoft YaHei"/>
                <a:ea typeface="Microsoft YaHei"/>
              </a:rPr>
              <a:t>自动建单</a:t>
            </a:r>
            <a:endParaRPr/>
          </a:p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7000875" y="3676650"/>
            <a:ext cx="431482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识别购买信号自动创建结构化工单并通知销售。</a:t>
            </a:r>
            <a:endParaRPr/>
          </a:p>
        </p:txBody>
      </p:sp>
      <p:sp>
        <p:nvSpPr>
          <p:cNvPr id="57" name=""/>
          <p:cNvSpPr/>
          <p:nvPr/>
        </p:nvSpPr>
        <p:spPr>
          <a:xfrm rot="0" flipH="0" flipV="0">
            <a:off x="6810375" y="4352925"/>
            <a:ext cx="4733925" cy="1028700"/>
          </a:xfrm>
          <a:prstGeom prst="roundRect">
            <a:avLst>
              <a:gd name="adj" fmla="val 12963"/>
            </a:avLst>
          </a:prstGeom>
          <a:solidFill>
            <a:srgbClr val="111C33"/>
          </a:solidFill>
          <a:ln/>
        </p:spPr>
        <p:txBody>
          <a:bodyPr/>
          <a:p/>
        </p:txBody>
      </p:sp>
      <p:sp>
        <p:nvSpPr>
          <p:cNvPr id="58" name=""/>
          <p:cNvSpPr/>
          <p:nvPr/>
        </p:nvSpPr>
        <p:spPr>
          <a:xfrm rot="0" flipH="0" flipV="0">
            <a:off x="6810375" y="4352925"/>
            <a:ext cx="4733925" cy="1028700"/>
          </a:xfrm>
          <a:custGeom>
            <a:pathLst>
              <a:path w="497" h="108">
                <a:moveTo>
                  <a:pt x="13" y="0"/>
                </a:moveTo>
                <a:cubicBezTo>
                  <a:pt x="8" y="1"/>
                  <a:pt x="4" y="5"/>
                  <a:pt x="4" y="10"/>
                </a:cubicBezTo>
                <a:lnTo>
                  <a:pt x="4" y="98"/>
                </a:lnTo>
                <a:cubicBezTo>
                  <a:pt x="4" y="102"/>
                  <a:pt x="7" y="106"/>
                  <a:pt x="11" y="108"/>
                </a:cubicBezTo>
                <a:cubicBezTo>
                  <a:pt x="5" y="106"/>
                  <a:pt x="0" y="101"/>
                  <a:pt x="0" y="94"/>
                </a:cubicBezTo>
                <a:lnTo>
                  <a:pt x="0" y="14"/>
                </a:lnTo>
                <a:cubicBezTo>
                  <a:pt x="0" y="6"/>
                  <a:pt x="6" y="0"/>
                  <a:pt x="14" y="0"/>
                </a:cubicBezTo>
                <a:close/>
              </a:path>
            </a:pathLst>
          </a:custGeom>
          <a:solidFill>
            <a:srgbClr val="22D3EE"/>
          </a:solidFill>
          <a:ln/>
        </p:spPr>
        <p:txBody>
          <a:bodyPr/>
          <a:p/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7000875" y="4543425"/>
            <a:ext cx="43148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E2E8F0"/>
                </a:solidFill>
                <a:latin typeface="Microsoft YaHei"/>
                <a:ea typeface="Microsoft YaHei"/>
              </a:rPr>
              <a:t>全渠道同源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7000875" y="4876800"/>
            <a:ext cx="4314825" cy="3143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350">
                <a:solidFill>
                  <a:srgbClr val="94A3B8"/>
                </a:solidFill>
                <a:latin typeface="Microsoft YaHei"/>
                <a:ea typeface="Microsoft YaHei"/>
              </a:rPr>
              <a:t xml:space="preserve">Web / </a:t>
            </a: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嵌入挂件</a:t>
            </a:r>
            <a:r>
              <a:rPr lang="en-US" sz="1350">
                <a:solidFill>
                  <a:srgbClr val="94A3B8"/>
                </a:solidFill>
                <a:latin typeface="Microsoft YaHei"/>
                <a:ea typeface="Microsoft YaHei"/>
              </a:rPr>
              <a:t xml:space="preserve"> / IM / </a:t>
            </a: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邮件四端同一</a:t>
            </a:r>
            <a:r>
              <a:rPr lang="en-US" sz="1350">
                <a:solidFill>
                  <a:srgbClr val="94A3B8"/>
                </a:solidFill>
                <a:latin typeface="Microsoft YaHei"/>
                <a:ea typeface="Microsoft YaHei"/>
              </a:rPr>
              <a:t xml:space="preserve"> Agent </a:t>
            </a: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内核。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685800" y="6486525"/>
            <a:ext cx="2143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EmbedDesk · AI Builder Cup 2026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11049000" y="64865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03 / 10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63" name="" descr="&lt;Slide style={{ position:'relative', width:'1280px', height:'720px', background:'#0B1224', padding:'0 72px' }}&gt;&#10;  &lt;Box style={{ position:'absolute', top:28, left:72, right:72, height:70, flexDirection:'row', alignItems:'center', gap:16 }}&gt;&#10;    &lt;Box style={{ width:8, height:40, background:'linear-gradient(135deg,#38bdf8,#818cf8)', borderRadius:4 }} /&gt;&#10;    &lt;Text style={{ fontSize:34, fontWeight:'bold', color:'#f1f5f9' }}&gt;为什么是我们&lt;/Text&gt;&#10;  &lt;/Box&gt;&#10;  &lt;Box style={{ position:'absolute', top:120, left:72, right:72, bottom:70, flexDirection:'row', gap:32 }}&gt;&#10;    &lt;Box style={{ flex:35, justifyContent:'center' }}&gt;&#10;      &lt;Text style={{ fontSize:40, fontWeight:'bold', color:'#f1f5f9' }}&gt;难以复制的&lt;br/&gt;工程护城河&lt;/Text&gt;&#10;      &lt;Box style={{ width:80, height:8, background:'linear-gradient(135deg,#38bdf8,#818cf8)', borderRadius:4, margin:'20px 0' }} /&gt;&#10;      &lt;Text style={{ fontSize:18, color:'#94a3b8', lineHeight:1.6 }}&gt;四个让原型真正&quot;能用、可演示、可度量&quot;的设计取舍。&lt;/Text&gt;&#10;    &lt;/Box&gt;&#10;    &lt;Box style={{ flex:65, flexDirection:'column', gap:14 }}&gt;&#10;      &lt;Box style={{ flexDirection:'row', gap:16, alignItems:'center', background:'#111C33', borderRadius:12, padding:'16px 20px', borderLeft:'4px solid #38bdf8' }}&gt;&#10;        &lt;Text style={{ fontSize:22, fontWeight:'bold', color:'#38bdf8', minWidth:54 }}&gt;01&lt;/Text&gt;&#10;        &lt;Box&gt;&lt;Text style={{ fontSize:20, fontWeight:'bold', color:'#e2e8f0' }}&gt;全渠道同源防重单&lt;/Text&gt;&lt;Text style={{ fontSize:17, color:'#94a3b8', marginTop:4 }}&gt;会话维度防重建单，IM/邮件建单不漏不重。&lt;/Text&gt;&lt;/Box&gt;&#10;      &lt;/Box&gt;&#10;      &lt;Box style={{ flexDirection:'row', gap:16, alignItems:'center', background:'#111C33', borderRadius:12, padding:'16px 20px', borderLeft:'4px solid #818cf8' }}&gt;&#10;        &lt;Text style={{ fontSize:22, fontWeight:'bold', color:'#818cf8', minWidth:54 }}&gt;02&lt;/Text&gt;&#10;        &lt;Box&gt;&lt;Text style={{ fontSize:20, fontWeight:'bold', color:'#e2e8f0' }}&gt;本地降级可演示&lt;/Text&gt;&lt;Text style={{ fontSize:17, color:'#94a3b8', marginTop:4 }}&gt;无 LLM 凭证环境仍走知识库直答，评审现场可完整跑通。&lt;/Text&gt;&lt;/Box&gt;&#10;      &lt;/Box&gt;&#10;      &lt;Box style={{ flexDirection:'row', gap:16, alignItems:'center', background:'#111C33', borderRadius:12, padding:'16px 20px', borderLeft:'4px solid #22d3ee' }}&gt;&#10;        &lt;Text style={{ fontSize:22, fontWeight:'bold', color:'#22d3ee', minWidth:54 }}&gt;03&lt;/Text&gt;&#10;        &lt;Box&gt;&lt;Text style={{ fontSize:20, fontWeight:'bold', color:'#e2e8f0' }}&gt;RAG 命中率 96.4%&lt;/Text&gt;&lt;Text style={{ fontSize:17, color:'#94a3b8', marginTop:4 }}&gt;同义/口语扩展 + 重排，Top-3 命中率实测 96.4%。&lt;/Text&gt;&lt;/Box&gt;&#10;      &lt;/Box&gt;&#10;      &lt;Box style={{ flexDirection:'row', gap:16, alignItems:'center', background:'#111C33', borderRadius:12, padding:'16px 20px', borderLeft:'4px solid #38bdf8' }}&gt;&#10;        &lt;Text style={{ fontSize:22, fontWeight:'bold', color:'#38bdf8', minWidth:54 }}&gt;04&lt;/Text&gt;&#10;        &lt;Box&gt;&lt;Text style={{ fontSize:20, fontWeight:'bold', color:'#e2e8f0' }}&gt;全链路可观测&lt;/Text&gt;&lt;Text style={{ fontSize:17, color:'#94a3b8', marginTop:4 }}&gt;每次模型调用的引擎/延迟/token/状态全量埋点。&lt;/Text&gt;&lt;/Box&gt;&#10;      &lt;/Box&gt;&#10;    &lt;/Box&gt;&#10;  &lt;/Box&gt;&#10;  &lt;Box style={{ position:'absolute', bottom:22, left:72, right:72, flexDirection:'row', justifyContent:'space-between' }}&gt;&#10;    &lt;Text style={{ fontSize:14, color:'#475569' }}&gt;EmbedDesk · AI Builder Cup 2026&lt;/Text&gt;&#10;    &lt;Text style={{ fontSize:14, color:'#475569' }}&gt;04 / 10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4"/>
          </a:solidFill>
          <a:ln/>
        </p:spPr>
        <p:txBody>
          <a:bodyPr/>
          <a:p/>
        </p:txBody>
      </p:sp>
      <p:sp>
        <p:nvSpPr>
          <p:cNvPr id="65" name=""/>
          <p:cNvSpPr/>
          <p:nvPr/>
        </p:nvSpPr>
        <p:spPr>
          <a:xfrm rot="0" flipH="0" flipV="0">
            <a:off x="685800" y="409575"/>
            <a:ext cx="76200" cy="3810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8BDF8"/>
              </a:gs>
              <a:gs pos="100000">
                <a:srgbClr val="818CF8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914400" y="409575"/>
            <a:ext cx="19431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1F5F9"/>
                </a:solidFill>
                <a:latin typeface="Microsoft YaHei"/>
                <a:ea typeface="Microsoft YaHei"/>
              </a:rPr>
              <a:t>为什么是我们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685800" y="2647950"/>
            <a:ext cx="3676650" cy="914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F1F5F9"/>
                </a:solidFill>
                <a:latin typeface="Microsoft YaHei"/>
                <a:ea typeface="Microsoft YaHei"/>
              </a:rPr>
              <a:t>难以复制的</a:t>
            </a:r>
            <a:endParaRPr/>
          </a:p>
          <a:p>
            <a:pPr>
              <a:lnSpc>
                <a:spcPct val="100000"/>
              </a:lnSpc>
            </a:pPr>
            <a:r>
              <a:rPr lang="zh-CN" sz="3000" b="1">
                <a:solidFill>
                  <a:srgbClr val="F1F5F9"/>
                </a:solidFill>
                <a:latin typeface="Microsoft YaHei"/>
                <a:ea typeface="Microsoft YaHei"/>
              </a:rPr>
              <a:t>工程护城河</a:t>
            </a:r>
            <a:endParaRPr/>
          </a:p>
        </p:txBody>
      </p:sp>
      <p:sp>
        <p:nvSpPr>
          <p:cNvPr id="68" name=""/>
          <p:cNvSpPr/>
          <p:nvPr/>
        </p:nvSpPr>
        <p:spPr>
          <a:xfrm rot="0" flipH="0" flipV="0">
            <a:off x="685800" y="3752850"/>
            <a:ext cx="762000" cy="762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8BDF8"/>
              </a:gs>
              <a:gs pos="100000">
                <a:srgbClr val="818CF8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685800" y="4019550"/>
            <a:ext cx="367665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四个让原型真正</a:t>
            </a:r>
            <a:r>
              <a:rPr lang="en-US" sz="1350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能用、可演示、可度量</a:t>
            </a:r>
            <a:r>
              <a:rPr lang="en-US" sz="1350">
                <a:solidFill>
                  <a:srgbClr val="94A3B8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的设计取舍。</a:t>
            </a:r>
            <a:endParaRPr/>
          </a:p>
        </p:txBody>
      </p:sp>
      <p:sp>
        <p:nvSpPr>
          <p:cNvPr id="70" name=""/>
          <p:cNvSpPr/>
          <p:nvPr/>
        </p:nvSpPr>
        <p:spPr>
          <a:xfrm rot="0" flipH="0" flipV="0">
            <a:off x="4705350" y="1143000"/>
            <a:ext cx="6838950" cy="771525"/>
          </a:xfrm>
          <a:prstGeom prst="roundRect">
            <a:avLst>
              <a:gd name="adj" fmla="val 14815"/>
            </a:avLst>
          </a:prstGeom>
          <a:solidFill>
            <a:srgbClr val="111C33"/>
          </a:solidFill>
          <a:ln/>
        </p:spPr>
        <p:txBody>
          <a:bodyPr/>
          <a:p/>
        </p:txBody>
      </p:sp>
      <p:sp>
        <p:nvSpPr>
          <p:cNvPr id="71" name=""/>
          <p:cNvSpPr/>
          <p:nvPr/>
        </p:nvSpPr>
        <p:spPr>
          <a:xfrm rot="0" flipH="0" flipV="0">
            <a:off x="4705350" y="1143000"/>
            <a:ext cx="6838950" cy="771525"/>
          </a:xfrm>
          <a:custGeom>
            <a:pathLst>
              <a:path w="718" h="81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73"/>
                </a:lnTo>
                <a:cubicBezTo>
                  <a:pt x="4" y="77"/>
                  <a:pt x="7" y="80"/>
                  <a:pt x="10" y="81"/>
                </a:cubicBezTo>
                <a:cubicBezTo>
                  <a:pt x="4" y="80"/>
                  <a:pt x="0" y="75"/>
                  <a:pt x="0" y="69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/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4895850" y="1400175"/>
            <a:ext cx="5143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38BDF8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5562600" y="1295400"/>
            <a:ext cx="31908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2E8F0"/>
                </a:solidFill>
                <a:latin typeface="Microsoft YaHei"/>
                <a:ea typeface="Microsoft YaHei"/>
              </a:rPr>
              <a:t>全渠道同源防重单</a:t>
            </a:r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5562600" y="1562100"/>
            <a:ext cx="31908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会话维度防重建单，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>IM/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邮件建单不漏不重。</a:t>
            </a:r>
            <a:endParaRPr/>
          </a:p>
        </p:txBody>
      </p:sp>
      <p:sp>
        <p:nvSpPr>
          <p:cNvPr id="75" name=""/>
          <p:cNvSpPr/>
          <p:nvPr/>
        </p:nvSpPr>
        <p:spPr>
          <a:xfrm rot="0" flipH="0" flipV="0">
            <a:off x="4705350" y="2047875"/>
            <a:ext cx="6838950" cy="771525"/>
          </a:xfrm>
          <a:prstGeom prst="roundRect">
            <a:avLst>
              <a:gd name="adj" fmla="val 14815"/>
            </a:avLst>
          </a:prstGeom>
          <a:solidFill>
            <a:srgbClr val="111C33"/>
          </a:solidFill>
          <a:ln/>
        </p:spPr>
        <p:txBody>
          <a:bodyPr/>
          <a:p/>
        </p:txBody>
      </p:sp>
      <p:sp>
        <p:nvSpPr>
          <p:cNvPr id="76" name=""/>
          <p:cNvSpPr/>
          <p:nvPr/>
        </p:nvSpPr>
        <p:spPr>
          <a:xfrm rot="0" flipH="0" flipV="0">
            <a:off x="4705350" y="2047875"/>
            <a:ext cx="6838950" cy="771525"/>
          </a:xfrm>
          <a:custGeom>
            <a:pathLst>
              <a:path w="718" h="81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73"/>
                </a:lnTo>
                <a:cubicBezTo>
                  <a:pt x="4" y="77"/>
                  <a:pt x="7" y="80"/>
                  <a:pt x="10" y="81"/>
                </a:cubicBezTo>
                <a:cubicBezTo>
                  <a:pt x="4" y="80"/>
                  <a:pt x="0" y="75"/>
                  <a:pt x="0" y="69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818CF8"/>
          </a:solidFill>
          <a:ln/>
        </p:spPr>
        <p:txBody>
          <a:bodyPr/>
          <a:p/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4895850" y="2305050"/>
            <a:ext cx="5143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818CF8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5562600" y="2200275"/>
            <a:ext cx="41529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2E8F0"/>
                </a:solidFill>
                <a:latin typeface="Microsoft YaHei"/>
                <a:ea typeface="Microsoft YaHei"/>
              </a:rPr>
              <a:t>本地降级可演示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5562600" y="2466975"/>
            <a:ext cx="4152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无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LLM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凭证环境仍走知识库直答，评审现场可完整跑通。</a:t>
            </a:r>
            <a:endParaRPr/>
          </a:p>
        </p:txBody>
      </p:sp>
      <p:sp>
        <p:nvSpPr>
          <p:cNvPr id="80" name=""/>
          <p:cNvSpPr/>
          <p:nvPr/>
        </p:nvSpPr>
        <p:spPr>
          <a:xfrm rot="0" flipH="0" flipV="0">
            <a:off x="4705350" y="2952750"/>
            <a:ext cx="6838950" cy="771525"/>
          </a:xfrm>
          <a:prstGeom prst="roundRect">
            <a:avLst>
              <a:gd name="adj" fmla="val 14815"/>
            </a:avLst>
          </a:prstGeom>
          <a:solidFill>
            <a:srgbClr val="111C33"/>
          </a:solidFill>
          <a:ln/>
        </p:spPr>
        <p:txBody>
          <a:bodyPr/>
          <a:p/>
        </p:txBody>
      </p:sp>
      <p:sp>
        <p:nvSpPr>
          <p:cNvPr id="81" name=""/>
          <p:cNvSpPr/>
          <p:nvPr/>
        </p:nvSpPr>
        <p:spPr>
          <a:xfrm rot="0" flipH="0" flipV="0">
            <a:off x="4705350" y="2952750"/>
            <a:ext cx="6838950" cy="771525"/>
          </a:xfrm>
          <a:custGeom>
            <a:pathLst>
              <a:path w="718" h="81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73"/>
                </a:lnTo>
                <a:cubicBezTo>
                  <a:pt x="4" y="77"/>
                  <a:pt x="7" y="80"/>
                  <a:pt x="10" y="81"/>
                </a:cubicBezTo>
                <a:cubicBezTo>
                  <a:pt x="4" y="80"/>
                  <a:pt x="0" y="75"/>
                  <a:pt x="0" y="69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22D3EE"/>
          </a:solidFill>
          <a:ln/>
        </p:spPr>
        <p:txBody>
          <a:bodyPr/>
          <a:p/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4895850" y="3209925"/>
            <a:ext cx="5143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22D3EE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5562600" y="3105150"/>
            <a:ext cx="37242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E2E8F0"/>
                </a:solidFill>
                <a:latin typeface="Microsoft YaHei"/>
                <a:ea typeface="Microsoft YaHei"/>
              </a:rPr>
              <a:t xml:space="preserve">RAG </a:t>
            </a:r>
            <a:r>
              <a:rPr lang="zh-CN" sz="1500" b="1">
                <a:solidFill>
                  <a:srgbClr val="E2E8F0"/>
                </a:solidFill>
                <a:latin typeface="Microsoft YaHei"/>
                <a:ea typeface="Microsoft YaHei"/>
              </a:rPr>
              <a:t>命中率</a:t>
            </a:r>
            <a:r>
              <a:rPr lang="en-US" sz="1500" b="1">
                <a:solidFill>
                  <a:srgbClr val="E2E8F0"/>
                </a:solidFill>
                <a:latin typeface="Microsoft YaHei"/>
                <a:ea typeface="Microsoft YaHei"/>
              </a:rPr>
              <a:t xml:space="preserve"> 96.4%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5562600" y="3371850"/>
            <a:ext cx="37242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同义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>/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口语扩展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重排，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Top-3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命中率实测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96.4%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85" name=""/>
          <p:cNvSpPr/>
          <p:nvPr/>
        </p:nvSpPr>
        <p:spPr>
          <a:xfrm rot="0" flipH="0" flipV="0">
            <a:off x="4705350" y="3857625"/>
            <a:ext cx="6838950" cy="771525"/>
          </a:xfrm>
          <a:prstGeom prst="roundRect">
            <a:avLst>
              <a:gd name="adj" fmla="val 14815"/>
            </a:avLst>
          </a:prstGeom>
          <a:solidFill>
            <a:srgbClr val="111C33"/>
          </a:solidFill>
          <a:ln/>
        </p:spPr>
        <p:txBody>
          <a:bodyPr/>
          <a:p/>
        </p:txBody>
      </p:sp>
      <p:sp>
        <p:nvSpPr>
          <p:cNvPr id="86" name=""/>
          <p:cNvSpPr/>
          <p:nvPr/>
        </p:nvSpPr>
        <p:spPr>
          <a:xfrm rot="0" flipH="0" flipV="0">
            <a:off x="4705350" y="3857625"/>
            <a:ext cx="6838950" cy="771525"/>
          </a:xfrm>
          <a:custGeom>
            <a:pathLst>
              <a:path w="718" h="81">
                <a:moveTo>
                  <a:pt x="11" y="0"/>
                </a:moveTo>
                <a:cubicBezTo>
                  <a:pt x="7" y="0"/>
                  <a:pt x="4" y="4"/>
                  <a:pt x="4" y="8"/>
                </a:cubicBezTo>
                <a:lnTo>
                  <a:pt x="4" y="73"/>
                </a:lnTo>
                <a:cubicBezTo>
                  <a:pt x="4" y="77"/>
                  <a:pt x="7" y="80"/>
                  <a:pt x="10" y="81"/>
                </a:cubicBezTo>
                <a:cubicBezTo>
                  <a:pt x="4" y="80"/>
                  <a:pt x="0" y="75"/>
                  <a:pt x="0" y="69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/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4895850" y="4114800"/>
            <a:ext cx="5143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38BDF8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5562600" y="4010025"/>
            <a:ext cx="35623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2E8F0"/>
                </a:solidFill>
                <a:latin typeface="Microsoft YaHei"/>
                <a:ea typeface="Microsoft YaHei"/>
              </a:rPr>
              <a:t>全链路可观测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5562600" y="4276725"/>
            <a:ext cx="35623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每次模型调用的引擎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>/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延迟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>/token/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状态全量埋点。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685800" y="6486525"/>
            <a:ext cx="2143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EmbedDesk · AI Builder Cup 2026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11049000" y="64865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04 / 10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92" name="" descr="&lt;Slide style={{ position:'relative', width:'1280px', height:'720px', background:'#0B1224', padding:'0 72px' }}&gt;&#10;  &lt;Box style={{ position:'absolute', top:28, left:72, right:72, height:70, flexDirection:'row', alignItems:'center', gap:16 }}&gt;&#10;    &lt;Box style={{ width:8, height:40, background:'linear-gradient(135deg,#38bdf8,#818cf8)', borderRadius:4 }} /&gt;&#10;    &lt;Text style={{ fontSize:34, fontWeight:'bold', color:'#f1f5f9' }}&gt;核心能力矩阵&lt;/Text&gt;&#10;  &lt;/Box&gt;&#10;  &lt;Box style={{ position:'absolute', top:130, left:72, right:72, bottom:70, flexDirection:'row', gap:20 }}&gt;&#10;    &lt;Box style={{ flex:1, background:'#111C33', borderRadius:16, padding:24, borderTop:'3px solid #38bdf8' }}&gt;&#10;      &lt;Text style={{ fontSize:22, fontWeight:'bold', color:'#7dd3fc' }}&gt;问答与转化&lt;/Text&gt;&#10;      &lt;Text style={{ fontSize:18, color:'#e2e8f0', marginTop:16, lineHeight:1.6 }}&gt;· 专家问答（附引用）&lt;/Text&gt;&#10;      &lt;Text style={{ fontSize:18, color:'#e2e8f0', marginTop:8, lineHeight:1.6 }}&gt;· 意图识别 + 自动建单&lt;/Text&gt;&#10;    &lt;/Box&gt;&#10;    &lt;Box style={{ flex:1, background:'#111C33', borderRadius:16, padding:24, borderTop:'3px solid #818cf8' }}&gt;&#10;      &lt;Text style={{ fontSize:22, fontWeight:'bold', color:'#a5b4fc' }}&gt;智能增强&lt;/Text&gt;&#10;      &lt;Text style={{ fontSize:18, color:'#e2e8f0', marginTop:16, lineHeight:1.6 }}&gt;· 情感识别与智能升级&lt;/Text&gt;&#10;      &lt;Text style={{ fontSize:18, color:'#e2e8f0', marginTop:8, lineHeight:1.6 }}&gt;· RAG 检索增强&lt;/Text&gt;&#10;    &lt;/Box&gt;&#10;    &lt;Box style={{ flex:1, background:'#111C33', borderRadius:16, padding:24, borderTop:'3px solid #22d3ee' }}&gt;&#10;      &lt;Text style={{ fontSize:22, fontWeight:'bold', color:'#67e8f9' }}&gt;坐席与自动化&lt;/Text&gt;&#10;      &lt;Text style={{ fontSize:18, color:'#e2e8f0', marginTop:16, lineHeight:1.6 }}&gt;· 坐席 Copilot&lt;/Text&gt;&#10;      &lt;Text style={{ fontSize:18, color:'#e2e8f0', marginTop:8, lineHeight:1.6 }}&gt;· 工作流引擎（无 eval）&lt;/Text&gt;&#10;    &lt;/Box&gt;&#10;    &lt;Box style={{ flex:1, background:'#111C33', borderRadius:16, padding:24, borderTop:'3px solid #38bdf8' }}&gt;&#10;      &lt;Text style={{ fontSize:22, fontWeight:'bold', color:'#7dd3fc' }}&gt;接入与观测&lt;/Text&gt;&#10;      &lt;Text style={{ fontSize:18, color:'#e2e8f0', marginTop:16, lineHeight:1.6 }}&gt;· 多渠道（web/embed/IM/邮件）&lt;/Text&gt;&#10;      &lt;Text style={{ fontSize:18, color:'#e2e8f0', marginTop:8, lineHeight:1.6 }}&gt;· 调用监控 + 引擎回退链&lt;/Text&gt;&#10;    &lt;/Box&gt;&#10;  &lt;/Box&gt;&#10;  &lt;Box style={{ position:'absolute', bottom:22, left:72, right:72, flexDirection:'row', justifyContent:'space-between' }}&gt;&#10;    &lt;Text style={{ fontSize:14, color:'#475569' }}&gt;EmbedDesk · AI Builder Cup 2026&lt;/Text&gt;&#10;    &lt;Text style={{ fontSize:14, color:'#475569' }}&gt;05 / 10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4"/>
          </a:solidFill>
          <a:ln/>
        </p:spPr>
        <p:txBody>
          <a:bodyPr/>
          <a:p/>
        </p:txBody>
      </p:sp>
      <p:sp>
        <p:nvSpPr>
          <p:cNvPr id="94" name=""/>
          <p:cNvSpPr/>
          <p:nvPr/>
        </p:nvSpPr>
        <p:spPr>
          <a:xfrm rot="0" flipH="0" flipV="0">
            <a:off x="685800" y="409575"/>
            <a:ext cx="76200" cy="3810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8BDF8"/>
              </a:gs>
              <a:gs pos="100000">
                <a:srgbClr val="818CF8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914400" y="409575"/>
            <a:ext cx="19431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1F5F9"/>
                </a:solidFill>
                <a:latin typeface="Microsoft YaHei"/>
                <a:ea typeface="Microsoft YaHei"/>
              </a:rPr>
              <a:t>核心能力矩阵</a:t>
            </a:r>
            <a:endParaRPr/>
          </a:p>
        </p:txBody>
      </p:sp>
      <p:sp>
        <p:nvSpPr>
          <p:cNvPr id="96" name=""/>
          <p:cNvSpPr/>
          <p:nvPr/>
        </p:nvSpPr>
        <p:spPr>
          <a:xfrm rot="0" flipH="0" flipV="0">
            <a:off x="685800" y="1266825"/>
            <a:ext cx="2562225" cy="4953000"/>
          </a:xfrm>
          <a:prstGeom prst="roundRect">
            <a:avLst>
              <a:gd name="adj" fmla="val 5948"/>
            </a:avLst>
          </a:prstGeom>
          <a:solidFill>
            <a:srgbClr val="111C33"/>
          </a:solidFill>
          <a:ln/>
        </p:spPr>
        <p:txBody>
          <a:bodyPr/>
          <a:p/>
        </p:txBody>
      </p:sp>
      <p:sp>
        <p:nvSpPr>
          <p:cNvPr id="97" name=""/>
          <p:cNvSpPr/>
          <p:nvPr/>
        </p:nvSpPr>
        <p:spPr>
          <a:xfrm rot="0" flipH="0" flipV="0">
            <a:off x="685800" y="1266825"/>
            <a:ext cx="2562225" cy="4953000"/>
          </a:xfrm>
          <a:custGeom>
            <a:pathLst>
              <a:path w="269" h="520">
                <a:moveTo>
                  <a:pt x="254" y="0"/>
                </a:moveTo>
                <a:cubicBezTo>
                  <a:pt x="261" y="0"/>
                  <a:pt x="267" y="5"/>
                  <a:pt x="268" y="12"/>
                </a:cubicBezTo>
                <a:cubicBezTo>
                  <a:pt x="267" y="7"/>
                  <a:pt x="262" y="3"/>
                  <a:pt x="256" y="3"/>
                </a:cubicBezTo>
                <a:lnTo>
                  <a:pt x="13" y="3"/>
                </a:lnTo>
                <a:cubicBezTo>
                  <a:pt x="7" y="3"/>
                  <a:pt x="2" y="7"/>
                  <a:pt x="0" y="12"/>
                </a:cubicBezTo>
                <a:cubicBezTo>
                  <a:pt x="2" y="5"/>
                  <a:pt x="9" y="0"/>
                  <a:pt x="16" y="0"/>
                </a:cubicBezTo>
                <a:lnTo>
                  <a:pt x="253" y="0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/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914400" y="1495425"/>
            <a:ext cx="21050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7DD3FC"/>
                </a:solidFill>
                <a:latin typeface="Microsoft YaHei"/>
                <a:ea typeface="Microsoft YaHei"/>
              </a:rPr>
              <a:t>问答与转化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914400" y="1905000"/>
            <a:ext cx="2105025" cy="3333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专家问答（附引用）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914400" y="2314575"/>
            <a:ext cx="2105025" cy="3333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意图识别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自动建单</a:t>
            </a:r>
            <a:endParaRPr/>
          </a:p>
        </p:txBody>
      </p:sp>
      <p:sp>
        <p:nvSpPr>
          <p:cNvPr id="101" name=""/>
          <p:cNvSpPr/>
          <p:nvPr/>
        </p:nvSpPr>
        <p:spPr>
          <a:xfrm rot="0" flipH="0" flipV="0">
            <a:off x="3438525" y="1266825"/>
            <a:ext cx="2562225" cy="4953000"/>
          </a:xfrm>
          <a:prstGeom prst="roundRect">
            <a:avLst>
              <a:gd name="adj" fmla="val 5948"/>
            </a:avLst>
          </a:prstGeom>
          <a:solidFill>
            <a:srgbClr val="111C33"/>
          </a:solidFill>
          <a:ln/>
        </p:spPr>
        <p:txBody>
          <a:bodyPr/>
          <a:p/>
        </p:txBody>
      </p:sp>
      <p:sp>
        <p:nvSpPr>
          <p:cNvPr id="102" name=""/>
          <p:cNvSpPr/>
          <p:nvPr/>
        </p:nvSpPr>
        <p:spPr>
          <a:xfrm rot="0" flipH="0" flipV="0">
            <a:off x="3438525" y="1266825"/>
            <a:ext cx="2562225" cy="4953000"/>
          </a:xfrm>
          <a:custGeom>
            <a:pathLst>
              <a:path w="269" h="520">
                <a:moveTo>
                  <a:pt x="254" y="0"/>
                </a:moveTo>
                <a:cubicBezTo>
                  <a:pt x="261" y="0"/>
                  <a:pt x="267" y="5"/>
                  <a:pt x="268" y="12"/>
                </a:cubicBezTo>
                <a:cubicBezTo>
                  <a:pt x="267" y="7"/>
                  <a:pt x="262" y="3"/>
                  <a:pt x="256" y="3"/>
                </a:cubicBezTo>
                <a:lnTo>
                  <a:pt x="13" y="3"/>
                </a:lnTo>
                <a:cubicBezTo>
                  <a:pt x="7" y="3"/>
                  <a:pt x="2" y="7"/>
                  <a:pt x="0" y="12"/>
                </a:cubicBezTo>
                <a:cubicBezTo>
                  <a:pt x="2" y="5"/>
                  <a:pt x="9" y="0"/>
                  <a:pt x="16" y="0"/>
                </a:cubicBezTo>
                <a:lnTo>
                  <a:pt x="253" y="0"/>
                </a:lnTo>
                <a:close/>
              </a:path>
            </a:pathLst>
          </a:custGeom>
          <a:solidFill>
            <a:srgbClr val="818CF8"/>
          </a:solidFill>
          <a:ln/>
        </p:spPr>
        <p:txBody>
          <a:bodyPr/>
          <a:p/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3667125" y="1495425"/>
            <a:ext cx="21050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A5B4FC"/>
                </a:solidFill>
                <a:latin typeface="Microsoft YaHei"/>
                <a:ea typeface="Microsoft YaHei"/>
              </a:rPr>
              <a:t>智能增强</a:t>
            </a:r>
            <a:endParaRPr/>
          </a:p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3667125" y="1905000"/>
            <a:ext cx="2105025" cy="3333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情感识别与智能升级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3667125" y="2314575"/>
            <a:ext cx="2105025" cy="3333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· RAG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检索增强</a:t>
            </a:r>
            <a:endParaRPr/>
          </a:p>
        </p:txBody>
      </p:sp>
      <p:sp>
        <p:nvSpPr>
          <p:cNvPr id="106" name=""/>
          <p:cNvSpPr/>
          <p:nvPr/>
        </p:nvSpPr>
        <p:spPr>
          <a:xfrm rot="0" flipH="0" flipV="0">
            <a:off x="6191250" y="1266825"/>
            <a:ext cx="2562225" cy="4953000"/>
          </a:xfrm>
          <a:prstGeom prst="roundRect">
            <a:avLst>
              <a:gd name="adj" fmla="val 5948"/>
            </a:avLst>
          </a:prstGeom>
          <a:solidFill>
            <a:srgbClr val="111C33"/>
          </a:solidFill>
          <a:ln/>
        </p:spPr>
        <p:txBody>
          <a:bodyPr/>
          <a:p/>
        </p:txBody>
      </p:sp>
      <p:sp>
        <p:nvSpPr>
          <p:cNvPr id="107" name=""/>
          <p:cNvSpPr/>
          <p:nvPr/>
        </p:nvSpPr>
        <p:spPr>
          <a:xfrm rot="0" flipH="0" flipV="0">
            <a:off x="6191250" y="1266825"/>
            <a:ext cx="2562225" cy="4953000"/>
          </a:xfrm>
          <a:custGeom>
            <a:pathLst>
              <a:path w="269" h="520">
                <a:moveTo>
                  <a:pt x="254" y="0"/>
                </a:moveTo>
                <a:cubicBezTo>
                  <a:pt x="261" y="0"/>
                  <a:pt x="267" y="5"/>
                  <a:pt x="268" y="12"/>
                </a:cubicBezTo>
                <a:cubicBezTo>
                  <a:pt x="267" y="7"/>
                  <a:pt x="262" y="3"/>
                  <a:pt x="256" y="3"/>
                </a:cubicBezTo>
                <a:lnTo>
                  <a:pt x="13" y="3"/>
                </a:lnTo>
                <a:cubicBezTo>
                  <a:pt x="7" y="3"/>
                  <a:pt x="2" y="7"/>
                  <a:pt x="0" y="12"/>
                </a:cubicBezTo>
                <a:cubicBezTo>
                  <a:pt x="2" y="5"/>
                  <a:pt x="9" y="0"/>
                  <a:pt x="16" y="0"/>
                </a:cubicBezTo>
                <a:lnTo>
                  <a:pt x="253" y="0"/>
                </a:lnTo>
                <a:close/>
              </a:path>
            </a:pathLst>
          </a:custGeom>
          <a:solidFill>
            <a:srgbClr val="22D3EE"/>
          </a:solidFill>
          <a:ln/>
        </p:spPr>
        <p:txBody>
          <a:bodyPr/>
          <a:p/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6419850" y="1495425"/>
            <a:ext cx="21050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67E8F9"/>
                </a:solidFill>
                <a:latin typeface="Microsoft YaHei"/>
                <a:ea typeface="Microsoft YaHei"/>
              </a:rPr>
              <a:t>坐席与自动化</a:t>
            </a:r>
            <a:endParaRPr/>
          </a:p>
        </p:txBody>
      </p:sp>
      <p:sp>
        <p:nvSpPr>
          <p:cNvPr id="109" name="" descr="{&quot;isTemplate&quot;:true,&quot;type&quot;:&quot;text&quot;}"/>
          <p:cNvSpPr txBox="1"/>
          <p:nvPr/>
        </p:nvSpPr>
        <p:spPr>
          <a:xfrm rot="0" flipH="0" flipV="0">
            <a:off x="6419850" y="1905000"/>
            <a:ext cx="2105025" cy="3333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坐席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Copilot</a:t>
            </a:r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6419850" y="2314575"/>
            <a:ext cx="2105025" cy="3333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工作流引擎（无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eval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111" name=""/>
          <p:cNvSpPr/>
          <p:nvPr/>
        </p:nvSpPr>
        <p:spPr>
          <a:xfrm rot="0" flipH="0" flipV="0">
            <a:off x="8943975" y="1266825"/>
            <a:ext cx="2562225" cy="4953000"/>
          </a:xfrm>
          <a:prstGeom prst="roundRect">
            <a:avLst>
              <a:gd name="adj" fmla="val 5948"/>
            </a:avLst>
          </a:prstGeom>
          <a:solidFill>
            <a:srgbClr val="111C33"/>
          </a:solidFill>
          <a:ln/>
        </p:spPr>
        <p:txBody>
          <a:bodyPr/>
          <a:p/>
        </p:txBody>
      </p:sp>
      <p:sp>
        <p:nvSpPr>
          <p:cNvPr id="112" name=""/>
          <p:cNvSpPr/>
          <p:nvPr/>
        </p:nvSpPr>
        <p:spPr>
          <a:xfrm rot="0" flipH="0" flipV="0">
            <a:off x="8943975" y="1266825"/>
            <a:ext cx="2562225" cy="4953000"/>
          </a:xfrm>
          <a:custGeom>
            <a:pathLst>
              <a:path w="269" h="520">
                <a:moveTo>
                  <a:pt x="254" y="0"/>
                </a:moveTo>
                <a:cubicBezTo>
                  <a:pt x="261" y="0"/>
                  <a:pt x="267" y="5"/>
                  <a:pt x="268" y="12"/>
                </a:cubicBezTo>
                <a:cubicBezTo>
                  <a:pt x="267" y="7"/>
                  <a:pt x="262" y="3"/>
                  <a:pt x="256" y="3"/>
                </a:cubicBezTo>
                <a:lnTo>
                  <a:pt x="13" y="3"/>
                </a:lnTo>
                <a:cubicBezTo>
                  <a:pt x="7" y="3"/>
                  <a:pt x="2" y="7"/>
                  <a:pt x="0" y="12"/>
                </a:cubicBezTo>
                <a:cubicBezTo>
                  <a:pt x="2" y="5"/>
                  <a:pt x="9" y="0"/>
                  <a:pt x="16" y="0"/>
                </a:cubicBezTo>
                <a:lnTo>
                  <a:pt x="253" y="0"/>
                </a:ln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/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9172575" y="1495425"/>
            <a:ext cx="21050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7DD3FC"/>
                </a:solidFill>
                <a:latin typeface="Microsoft YaHei"/>
                <a:ea typeface="Microsoft YaHei"/>
              </a:rPr>
              <a:t>接入与观测</a:t>
            </a:r>
            <a:endParaRPr/>
          </a:p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9172575" y="1905000"/>
            <a:ext cx="2105025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多渠道（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>web/embed/IM/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邮件）</a:t>
            </a:r>
            <a:endParaRPr/>
          </a:p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9172575" y="2647950"/>
            <a:ext cx="2105025" cy="3333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调用监控</a:t>
            </a:r>
            <a:r>
              <a:rPr lang="en-US" sz="1350">
                <a:solidFill>
                  <a:srgbClr val="E2E8F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350">
                <a:solidFill>
                  <a:srgbClr val="E2E8F0"/>
                </a:solidFill>
                <a:latin typeface="Microsoft YaHei"/>
                <a:ea typeface="Microsoft YaHei"/>
              </a:rPr>
              <a:t>引擎回退链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685800" y="6486525"/>
            <a:ext cx="2143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EmbedDesk · AI Builder Cup 2026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11049000" y="64865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05 / 10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18" name="" descr="&lt;Slide style={{ position:'relative', width:'1280px', height:'720px', background:'#0B1224', padding:'0 72px' }}&gt;&#10;  &lt;Box style={{ position:'absolute', top:28, left:72, right:72, height:70, flexDirection:'row', alignItems:'center', gap:16 }}&gt;&#10;    &lt;Box style={{ width:8, height:40, background:'linear-gradient(135deg,#38bdf8,#818cf8)', borderRadius:4 }} /&gt;&#10;    &lt;Text style={{ fontSize:34, fontWeight:'bold', color:'#f1f5f9' }}&gt;系统架构（Google Cloud）&lt;/Text&gt;&#10;  &lt;/Box&gt;&#10;  &lt;Box style={{ position:'absolute', top:130, left:72, right:72, bottom:90, flexDirection:'column', alignItems:'center', justifyContent:'center' }}&gt;&#10;    &lt;Image src=&quot;assets/arch.svg&quot; style={{ width:'100%', height:440, objectFit:'contain' }} /&gt;&#10;  &lt;/Box&gt;&#10;  &lt;Box style={{ position:'absolute', bottom:74, left:72, right:72 }}&gt;&#10;    &lt;Text style={{ fontSize:18, color:'#94a3b8', textAlign:'center', lineHeight:1.5 }}&gt;全栈 Google Cloud：Cloud Run 单容器部署，Gemini 负责对话与工具调用，Vertex AI Search 做企业知识检索，Firestore 持久化工单与会话，BigQuery 沉淀洞察事件流。&lt;/Text&gt;&#10;  &lt;/Box&gt;&#10;  &lt;Box style={{ position:'absolute', bottom:22, left:72, right:72, flexDirection:'row', justifyContent:'space-between' }}&gt;&#10;    &lt;Text style={{ fontSize:14, color:'#475569' }}&gt;EmbedDesk · AI Builder Cup 2026&lt;/Text&gt;&#10;    &lt;Text style={{ fontSize:14, color:'#475569' }}&gt;06 / 10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4"/>
          </a:solidFill>
          <a:ln/>
        </p:spPr>
        <p:txBody>
          <a:bodyPr/>
          <a:p/>
        </p:txBody>
      </p:sp>
      <p:sp>
        <p:nvSpPr>
          <p:cNvPr id="120" name=""/>
          <p:cNvSpPr/>
          <p:nvPr/>
        </p:nvSpPr>
        <p:spPr>
          <a:xfrm rot="0" flipH="0" flipV="0">
            <a:off x="685800" y="409575"/>
            <a:ext cx="76200" cy="3810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8BDF8"/>
              </a:gs>
              <a:gs pos="100000">
                <a:srgbClr val="818CF8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914400" y="409575"/>
            <a:ext cx="41719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1F5F9"/>
                </a:solidFill>
                <a:latin typeface="Microsoft YaHei"/>
                <a:ea typeface="Microsoft YaHei"/>
              </a:rPr>
              <a:t>系统架构（</a:t>
            </a:r>
            <a:r>
              <a:rPr lang="en-US" sz="2550" b="1">
                <a:solidFill>
                  <a:srgbClr val="F1F5F9"/>
                </a:solidFill>
                <a:latin typeface="Microsoft YaHei"/>
                <a:ea typeface="Microsoft YaHei"/>
              </a:rPr>
              <a:t>Google Cloud</a:t>
            </a:r>
            <a:r>
              <a:rPr lang="zh-CN" sz="2550" b="1">
                <a:solidFill>
                  <a:srgbClr val="F1F5F9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pic>
        <p:nvPicPr>
          <p:cNvPr id="122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rcRect l="0" t="9033" r="0" b="9033"/>
          <a:stretch>
            <a:fillRect/>
          </a:stretch>
        </p:blipFill>
        <p:spPr>
          <a:xfrm rot="0" flipH="0" flipV="0">
            <a:off x="685800" y="1524000"/>
            <a:ext cx="10820400" cy="4191000"/>
          </a:xfrm>
          <a:prstGeom prst="rect">
            <a:avLst/>
          </a:prstGeom>
          <a:ln/>
        </p:spPr>
      </p:pic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685800" y="5534025"/>
            <a:ext cx="10820400" cy="61912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50000"/>
              </a:lnSpc>
            </a:pP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全栈</a:t>
            </a:r>
            <a:r>
              <a:rPr lang="en-US" sz="1350">
                <a:solidFill>
                  <a:srgbClr val="94A3B8"/>
                </a:solidFill>
                <a:latin typeface="Microsoft YaHei"/>
                <a:ea typeface="Microsoft YaHei"/>
              </a:rPr>
              <a:t xml:space="preserve"> Google Cloud</a:t>
            </a: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：</a:t>
            </a:r>
            <a:r>
              <a:rPr lang="en-US" sz="1350">
                <a:solidFill>
                  <a:srgbClr val="94A3B8"/>
                </a:solidFill>
                <a:latin typeface="Microsoft YaHei"/>
                <a:ea typeface="Microsoft YaHei"/>
              </a:rPr>
              <a:t xml:space="preserve">Cloud Run </a:t>
            </a: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单容器部署，</a:t>
            </a:r>
            <a:r>
              <a:rPr lang="en-US" sz="1350">
                <a:solidFill>
                  <a:srgbClr val="94A3B8"/>
                </a:solidFill>
                <a:latin typeface="Microsoft YaHei"/>
                <a:ea typeface="Microsoft YaHei"/>
              </a:rPr>
              <a:t xml:space="preserve">Gemini </a:t>
            </a: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负责对话与工具调用，</a:t>
            </a:r>
            <a:r>
              <a:rPr lang="en-US" sz="1350">
                <a:solidFill>
                  <a:srgbClr val="94A3B8"/>
                </a:solidFill>
                <a:latin typeface="Microsoft YaHei"/>
                <a:ea typeface="Microsoft YaHei"/>
              </a:rPr>
              <a:t xml:space="preserve">Vertex AI Search </a:t>
            </a: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做企业知识检索，</a:t>
            </a:r>
            <a:r>
              <a:rPr lang="en-US" sz="1350">
                <a:solidFill>
                  <a:srgbClr val="94A3B8"/>
                </a:solidFill>
                <a:latin typeface="Microsoft YaHei"/>
                <a:ea typeface="Microsoft YaHei"/>
              </a:rPr>
              <a:t xml:space="preserve">Firestore </a:t>
            </a: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持久化工单与会话，</a:t>
            </a:r>
            <a:r>
              <a:rPr lang="en-US" sz="1350">
                <a:solidFill>
                  <a:srgbClr val="94A3B8"/>
                </a:solidFill>
                <a:latin typeface="Microsoft YaHei"/>
                <a:ea typeface="Microsoft YaHei"/>
              </a:rPr>
              <a:t xml:space="preserve">BigQuery </a:t>
            </a: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沉淀洞察事件流。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685800" y="6486525"/>
            <a:ext cx="2143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EmbedDesk · AI Builder Cup 2026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11049000" y="64865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06 / 10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126" name="" descr="&lt;Slide style={{ position:'relative', width:'1280px', height:'720px', background:'#0B1224', padding:'0 72px' }}&gt;&#10;  &lt;Box style={{ position:'absolute', top:28, left:72, right:72, height:70, flexDirection:'row', alignItems:'center', gap:16 }}&gt;&#10;    &lt;Box style={{ width:8, height:40, background:'linear-gradient(135deg,#38bdf8,#818cf8)', borderRadius:4 }} /&gt;&#10;    &lt;Text style={{ fontSize:34, fontWeight:'bold', color:'#f1f5f9' }}&gt;技术栈&lt;/Text&gt;&#10;  &lt;/Box&gt;&#10;  &lt;Box style={{ position:'absolute', top:120, left:72, right:72, bottom:70, flexDirection:'row', gap:32 }}&gt;&#10;    &lt;Box style={{ flex:35, justifyContent:'center' }}&gt;&#10;      &lt;Text style={{ fontSize:36, fontWeight:'bold', color:'#f1f5f9' }}&gt;一行 &lt;span style={{ color:'#38bdf8' }}&gt;&amp;lt;script&amp;gt;&lt;/span&gt;&lt;br/&gt;承载全部能力&lt;/Text&gt;&#10;      &lt;Box style={{ width:80, height:8, background:'linear-gradient(135deg,#38bdf8,#818cf8)', borderRadius:4, margin:'20px 0' }} /&gt;&#10;      &lt;Text style={{ fontSize:18, color:'#94a3b8', lineHeight:1.6 }}&gt;前端零改造嵌入，后端单容器可水平扩展。&lt;/Text&gt;&#10;    &lt;/Box&gt;&#10;    &lt;Box style={{ flex:65, flexDirection:'row', gap:20 }}&gt;&#10;      &lt;Box style={{ flex:1, flexDirection:'column', gap:16 }}&gt;&#10;        &lt;Box style={{ background:'#111C33', borderRadius:14, padding:20, borderLeft:'4px solid #38bdf8' }}&gt;&#10;          &lt;Text style={{ fontSize:20, fontWeight:'bold', color:'#e2e8f0' }}&gt;前端&lt;/Text&gt;&#10;          &lt;Text style={{ fontSize:17, color:'#94a3b8', marginTop:8, lineHeight:1.5 }}&gt;React 18 + TypeScript + Vite 5；Shadow DOM 隔离挂件。&lt;/Text&gt;&#10;        &lt;/Box&gt;&#10;        &lt;Box style={{ background:'#111C33', borderRadius:14, padding:20, borderLeft:'4px solid #818cf8' }}&gt;&#10;          &lt;Text style={{ fontSize:20, fontWeight:'bold', color:'#e2e8f0' }}&gt;后端&lt;/Text&gt;&#10;          &lt;Text style={{ fontSize:17, color:'#94a3b8', marginTop:8, lineHeight:1.5 }}&gt;Node 22 + tsx + Express 4 + better-sqlite3（本地降级）。&lt;/Text&gt;&#10;        &lt;/Box&gt;&#10;      &lt;/Box&gt;&#10;      &lt;Box style={{ flex:1, flexDirection:'column', gap:16 }}&gt;&#10;        &lt;Box style={{ background:'#111C33', borderRadius:14, padding:20, borderLeft:'4px solid #22d3ee' }}&gt;&#10;          &lt;Text style={{ fontSize:20, fontWeight:'bold', color:'#e2e8f0' }}&gt;AI 接入&lt;/Text&gt;&#10;          &lt;Text style={{ fontSize:17, color:'#94a3b8', marginTop:8, lineHeight:1.5 }}&gt;Gemini / OpenAI 兼容多协议直连 + 引擎回退链。&lt;/Text&gt;&#10;        &lt;/Box&gt;&#10;        &lt;Box style={{ background:'#111C33', borderRadius:14, padding:20, borderLeft:'4px solid #38bdf8' }}&gt;&#10;          &lt;Text style={{ fontSize:20, fontWeight:'bold', color:'#e2e8f0' }}&gt;数据 / 云&lt;/Text&gt;&#10;          &lt;Text style={{ fontSize:17, color:'#94a3b8', marginTop:8, lineHeight:1.5 }}&gt;Firestore + BigQuery（生产）/ SQLite（演示降级）。&lt;/Text&gt;&#10;        &lt;/Box&gt;&#10;      &lt;/Box&gt;&#10;    &lt;/Box&gt;&#10;  &lt;/Box&gt;&#10;  &lt;Box style={{ position:'absolute', bottom:22, left:72, right:72, flexDirection:'row', justifyContent:'space-between' }}&gt;&#10;    &lt;Text style={{ fontSize:14, color:'#475569' }}&gt;EmbedDesk · AI Builder Cup 2026&lt;/Text&gt;&#10;    &lt;Text style={{ fontSize:14, color:'#475569' }}&gt;07 / 10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4"/>
          </a:solidFill>
          <a:ln/>
        </p:spPr>
        <p:txBody>
          <a:bodyPr/>
          <a:p/>
        </p:txBody>
      </p:sp>
      <p:sp>
        <p:nvSpPr>
          <p:cNvPr id="128" name=""/>
          <p:cNvSpPr/>
          <p:nvPr/>
        </p:nvSpPr>
        <p:spPr>
          <a:xfrm rot="0" flipH="0" flipV="0">
            <a:off x="685800" y="409575"/>
            <a:ext cx="76200" cy="3810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8BDF8"/>
              </a:gs>
              <a:gs pos="100000">
                <a:srgbClr val="818CF8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914400" y="409575"/>
            <a:ext cx="9715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1F5F9"/>
                </a:solidFill>
                <a:latin typeface="Microsoft YaHei"/>
                <a:ea typeface="Microsoft YaHei"/>
              </a:rPr>
              <a:t>技术栈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685800" y="2857500"/>
            <a:ext cx="3676650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F1F5F9"/>
                </a:solidFill>
                <a:latin typeface="Microsoft YaHei"/>
                <a:ea typeface="Microsoft YaHei"/>
              </a:rPr>
              <a:t>一行</a:t>
            </a:r>
            <a:r>
              <a:rPr lang="en-US" sz="2700" b="1">
                <a:solidFill>
                  <a:srgbClr val="F1F5F9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2700" b="1">
                <a:solidFill>
                  <a:srgbClr val="38BDF8"/>
                </a:solidFill>
                <a:latin typeface="Microsoft YaHei"/>
                <a:ea typeface="Microsoft YaHei"/>
              </a:rPr>
              <a:t>&lt;script&gt;</a:t>
            </a:r>
            <a:endParaRPr/>
          </a:p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F1F5F9"/>
                </a:solidFill>
                <a:latin typeface="Microsoft YaHei"/>
                <a:ea typeface="Microsoft YaHei"/>
              </a:rPr>
              <a:t>承载全部能力</a:t>
            </a:r>
            <a:endParaRPr/>
          </a:p>
        </p:txBody>
      </p:sp>
      <p:sp>
        <p:nvSpPr>
          <p:cNvPr id="131" name=""/>
          <p:cNvSpPr/>
          <p:nvPr/>
        </p:nvSpPr>
        <p:spPr>
          <a:xfrm rot="0" flipH="0" flipV="0">
            <a:off x="685800" y="3876675"/>
            <a:ext cx="762000" cy="762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8BDF8"/>
              </a:gs>
              <a:gs pos="100000">
                <a:srgbClr val="818CF8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685800" y="4143375"/>
            <a:ext cx="3676650" cy="3333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前端零改造嵌入，后端单容器可水平扩展。</a:t>
            </a:r>
            <a:endParaRPr/>
          </a:p>
        </p:txBody>
      </p:sp>
      <p:sp>
        <p:nvSpPr>
          <p:cNvPr id="133" name=""/>
          <p:cNvSpPr/>
          <p:nvPr/>
        </p:nvSpPr>
        <p:spPr>
          <a:xfrm rot="0" flipH="0" flipV="0">
            <a:off x="4705350" y="1143000"/>
            <a:ext cx="3324225" cy="1276350"/>
          </a:xfrm>
          <a:prstGeom prst="roundRect">
            <a:avLst>
              <a:gd name="adj" fmla="val 10448"/>
            </a:avLst>
          </a:prstGeom>
          <a:solidFill>
            <a:srgbClr val="111C33"/>
          </a:solidFill>
          <a:ln/>
        </p:spPr>
        <p:txBody>
          <a:bodyPr/>
          <a:p/>
        </p:txBody>
      </p:sp>
      <p:sp>
        <p:nvSpPr>
          <p:cNvPr id="134" name=""/>
          <p:cNvSpPr/>
          <p:nvPr/>
        </p:nvSpPr>
        <p:spPr>
          <a:xfrm rot="0" flipH="0" flipV="0">
            <a:off x="4705350" y="1143000"/>
            <a:ext cx="3324225" cy="1276350"/>
          </a:xfrm>
          <a:custGeom>
            <a:pathLst>
              <a:path w="349" h="134">
                <a:moveTo>
                  <a:pt x="13" y="0"/>
                </a:moveTo>
                <a:cubicBezTo>
                  <a:pt x="8" y="1"/>
                  <a:pt x="4" y="5"/>
                  <a:pt x="4" y="10"/>
                </a:cubicBezTo>
                <a:lnTo>
                  <a:pt x="4" y="124"/>
                </a:lnTo>
                <a:cubicBezTo>
                  <a:pt x="4" y="128"/>
                  <a:pt x="7" y="132"/>
                  <a:pt x="11" y="134"/>
                </a:cubicBezTo>
                <a:cubicBezTo>
                  <a:pt x="5" y="132"/>
                  <a:pt x="0" y="127"/>
                  <a:pt x="0" y="120"/>
                </a:cubicBezTo>
                <a:lnTo>
                  <a:pt x="0" y="14"/>
                </a:lnTo>
                <a:cubicBezTo>
                  <a:pt x="0" y="6"/>
                  <a:pt x="6" y="0"/>
                  <a:pt x="14" y="0"/>
                </a:cubicBez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/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4895850" y="1333500"/>
            <a:ext cx="2905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2E8F0"/>
                </a:solidFill>
                <a:latin typeface="Microsoft YaHei"/>
                <a:ea typeface="Microsoft YaHei"/>
              </a:rPr>
              <a:t>前端</a:t>
            </a:r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4895850" y="1638300"/>
            <a:ext cx="290512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>React 18 + TypeScript + Vite 5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；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Shadow DOM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隔离挂件。</a:t>
            </a:r>
            <a:endParaRPr/>
          </a:p>
        </p:txBody>
      </p:sp>
      <p:sp>
        <p:nvSpPr>
          <p:cNvPr id="137" name=""/>
          <p:cNvSpPr/>
          <p:nvPr/>
        </p:nvSpPr>
        <p:spPr>
          <a:xfrm rot="0" flipH="0" flipV="0">
            <a:off x="4705350" y="2571750"/>
            <a:ext cx="3324225" cy="1276350"/>
          </a:xfrm>
          <a:prstGeom prst="roundRect">
            <a:avLst>
              <a:gd name="adj" fmla="val 10448"/>
            </a:avLst>
          </a:prstGeom>
          <a:solidFill>
            <a:srgbClr val="111C33"/>
          </a:solidFill>
          <a:ln/>
        </p:spPr>
        <p:txBody>
          <a:bodyPr/>
          <a:p/>
        </p:txBody>
      </p:sp>
      <p:sp>
        <p:nvSpPr>
          <p:cNvPr id="138" name=""/>
          <p:cNvSpPr/>
          <p:nvPr/>
        </p:nvSpPr>
        <p:spPr>
          <a:xfrm rot="0" flipH="0" flipV="0">
            <a:off x="4705350" y="2571750"/>
            <a:ext cx="3324225" cy="1276350"/>
          </a:xfrm>
          <a:custGeom>
            <a:pathLst>
              <a:path w="349" h="134">
                <a:moveTo>
                  <a:pt x="13" y="0"/>
                </a:moveTo>
                <a:cubicBezTo>
                  <a:pt x="8" y="1"/>
                  <a:pt x="4" y="5"/>
                  <a:pt x="4" y="10"/>
                </a:cubicBezTo>
                <a:lnTo>
                  <a:pt x="4" y="124"/>
                </a:lnTo>
                <a:cubicBezTo>
                  <a:pt x="4" y="128"/>
                  <a:pt x="7" y="132"/>
                  <a:pt x="11" y="134"/>
                </a:cubicBezTo>
                <a:cubicBezTo>
                  <a:pt x="5" y="132"/>
                  <a:pt x="0" y="127"/>
                  <a:pt x="0" y="120"/>
                </a:cubicBezTo>
                <a:lnTo>
                  <a:pt x="0" y="14"/>
                </a:lnTo>
                <a:cubicBezTo>
                  <a:pt x="0" y="6"/>
                  <a:pt x="6" y="0"/>
                  <a:pt x="14" y="0"/>
                </a:cubicBezTo>
                <a:close/>
              </a:path>
            </a:pathLst>
          </a:custGeom>
          <a:solidFill>
            <a:srgbClr val="818CF8"/>
          </a:solidFill>
          <a:ln/>
        </p:spPr>
        <p:txBody>
          <a:bodyPr/>
          <a:p/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4895850" y="2762250"/>
            <a:ext cx="2905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2E8F0"/>
                </a:solidFill>
                <a:latin typeface="Microsoft YaHei"/>
                <a:ea typeface="Microsoft YaHei"/>
              </a:rPr>
              <a:t>后端</a:t>
            </a:r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4895850" y="3067050"/>
            <a:ext cx="290512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>Node 22 + tsx + Express 4 + better-sqlite3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（本地降级）。</a:t>
            </a:r>
            <a:endParaRPr/>
          </a:p>
        </p:txBody>
      </p:sp>
      <p:sp>
        <p:nvSpPr>
          <p:cNvPr id="141" name=""/>
          <p:cNvSpPr/>
          <p:nvPr/>
        </p:nvSpPr>
        <p:spPr>
          <a:xfrm rot="0" flipH="0" flipV="0">
            <a:off x="8220075" y="1143000"/>
            <a:ext cx="3324225" cy="1276350"/>
          </a:xfrm>
          <a:prstGeom prst="roundRect">
            <a:avLst>
              <a:gd name="adj" fmla="val 10448"/>
            </a:avLst>
          </a:prstGeom>
          <a:solidFill>
            <a:srgbClr val="111C33"/>
          </a:solidFill>
          <a:ln/>
        </p:spPr>
        <p:txBody>
          <a:bodyPr/>
          <a:p/>
        </p:txBody>
      </p:sp>
      <p:sp>
        <p:nvSpPr>
          <p:cNvPr id="142" name=""/>
          <p:cNvSpPr/>
          <p:nvPr/>
        </p:nvSpPr>
        <p:spPr>
          <a:xfrm rot="0" flipH="0" flipV="0">
            <a:off x="8220075" y="1143000"/>
            <a:ext cx="3324225" cy="1276350"/>
          </a:xfrm>
          <a:custGeom>
            <a:pathLst>
              <a:path w="349" h="134">
                <a:moveTo>
                  <a:pt x="13" y="0"/>
                </a:moveTo>
                <a:cubicBezTo>
                  <a:pt x="8" y="1"/>
                  <a:pt x="4" y="5"/>
                  <a:pt x="4" y="10"/>
                </a:cubicBezTo>
                <a:lnTo>
                  <a:pt x="4" y="124"/>
                </a:lnTo>
                <a:cubicBezTo>
                  <a:pt x="4" y="128"/>
                  <a:pt x="7" y="132"/>
                  <a:pt x="11" y="134"/>
                </a:cubicBezTo>
                <a:cubicBezTo>
                  <a:pt x="5" y="132"/>
                  <a:pt x="0" y="127"/>
                  <a:pt x="0" y="120"/>
                </a:cubicBezTo>
                <a:lnTo>
                  <a:pt x="0" y="14"/>
                </a:lnTo>
                <a:cubicBezTo>
                  <a:pt x="0" y="6"/>
                  <a:pt x="6" y="0"/>
                  <a:pt x="14" y="0"/>
                </a:cubicBezTo>
                <a:close/>
              </a:path>
            </a:pathLst>
          </a:custGeom>
          <a:solidFill>
            <a:srgbClr val="22D3EE"/>
          </a:solidFill>
          <a:ln/>
        </p:spPr>
        <p:txBody>
          <a:bodyPr/>
          <a:p/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8410575" y="1333500"/>
            <a:ext cx="2905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E2E8F0"/>
                </a:solidFill>
                <a:latin typeface="Microsoft YaHei"/>
                <a:ea typeface="Microsoft YaHei"/>
              </a:rPr>
              <a:t xml:space="preserve">AI </a:t>
            </a:r>
            <a:r>
              <a:rPr lang="zh-CN" sz="1500" b="1">
                <a:solidFill>
                  <a:srgbClr val="E2E8F0"/>
                </a:solidFill>
                <a:latin typeface="Microsoft YaHei"/>
                <a:ea typeface="Microsoft YaHei"/>
              </a:rPr>
              <a:t>接入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8410575" y="1638300"/>
            <a:ext cx="290512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Gemini / OpenAI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兼容多协议直连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引擎回退链。</a:t>
            </a:r>
            <a:endParaRPr/>
          </a:p>
        </p:txBody>
      </p:sp>
      <p:sp>
        <p:nvSpPr>
          <p:cNvPr id="145" name=""/>
          <p:cNvSpPr/>
          <p:nvPr/>
        </p:nvSpPr>
        <p:spPr>
          <a:xfrm rot="0" flipH="0" flipV="0">
            <a:off x="8220075" y="2571750"/>
            <a:ext cx="3324225" cy="1276350"/>
          </a:xfrm>
          <a:prstGeom prst="roundRect">
            <a:avLst>
              <a:gd name="adj" fmla="val 10448"/>
            </a:avLst>
          </a:prstGeom>
          <a:solidFill>
            <a:srgbClr val="111C33"/>
          </a:solidFill>
          <a:ln/>
        </p:spPr>
        <p:txBody>
          <a:bodyPr/>
          <a:p/>
        </p:txBody>
      </p:sp>
      <p:sp>
        <p:nvSpPr>
          <p:cNvPr id="146" name=""/>
          <p:cNvSpPr/>
          <p:nvPr/>
        </p:nvSpPr>
        <p:spPr>
          <a:xfrm rot="0" flipH="0" flipV="0">
            <a:off x="8220075" y="2571750"/>
            <a:ext cx="3324225" cy="1276350"/>
          </a:xfrm>
          <a:custGeom>
            <a:pathLst>
              <a:path w="349" h="134">
                <a:moveTo>
                  <a:pt x="13" y="0"/>
                </a:moveTo>
                <a:cubicBezTo>
                  <a:pt x="8" y="1"/>
                  <a:pt x="4" y="5"/>
                  <a:pt x="4" y="10"/>
                </a:cubicBezTo>
                <a:lnTo>
                  <a:pt x="4" y="124"/>
                </a:lnTo>
                <a:cubicBezTo>
                  <a:pt x="4" y="128"/>
                  <a:pt x="7" y="132"/>
                  <a:pt x="11" y="134"/>
                </a:cubicBezTo>
                <a:cubicBezTo>
                  <a:pt x="5" y="132"/>
                  <a:pt x="0" y="127"/>
                  <a:pt x="0" y="120"/>
                </a:cubicBezTo>
                <a:lnTo>
                  <a:pt x="0" y="14"/>
                </a:lnTo>
                <a:cubicBezTo>
                  <a:pt x="0" y="6"/>
                  <a:pt x="6" y="0"/>
                  <a:pt x="14" y="0"/>
                </a:cubicBezTo>
                <a:close/>
              </a:path>
            </a:pathLst>
          </a:custGeom>
          <a:solidFill>
            <a:srgbClr val="38BDF8"/>
          </a:solidFill>
          <a:ln/>
        </p:spPr>
        <p:txBody>
          <a:bodyPr/>
          <a:p/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8410575" y="2762250"/>
            <a:ext cx="29051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E2E8F0"/>
                </a:solidFill>
                <a:latin typeface="Microsoft YaHei"/>
                <a:ea typeface="Microsoft YaHei"/>
              </a:rPr>
              <a:t>数据</a:t>
            </a:r>
            <a:r>
              <a:rPr lang="en-US" sz="1500" b="1">
                <a:solidFill>
                  <a:srgbClr val="E2E8F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500" b="1">
                <a:solidFill>
                  <a:srgbClr val="E2E8F0"/>
                </a:solidFill>
                <a:latin typeface="Microsoft YaHei"/>
                <a:ea typeface="Microsoft YaHei"/>
              </a:rPr>
              <a:t>云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8410575" y="3067050"/>
            <a:ext cx="2905125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>Firestore + BigQuery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（生产）</a:t>
            </a:r>
            <a:r>
              <a:rPr lang="en-US" sz="1275">
                <a:solidFill>
                  <a:srgbClr val="94A3B8"/>
                </a:solidFill>
                <a:latin typeface="Microsoft YaHei"/>
                <a:ea typeface="Microsoft YaHei"/>
              </a:rPr>
              <a:t>/ SQLite</a:t>
            </a:r>
            <a:r>
              <a:rPr lang="zh-CN" sz="1275">
                <a:solidFill>
                  <a:srgbClr val="94A3B8"/>
                </a:solidFill>
                <a:latin typeface="Microsoft YaHei"/>
                <a:ea typeface="Microsoft YaHei"/>
              </a:rPr>
              <a:t>（演示降级）。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685800" y="6486525"/>
            <a:ext cx="2143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EmbedDesk · AI Builder Cup 2026</a:t>
            </a:r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11049000" y="64865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07 / 10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1" name="" descr="&lt;Slide style={{ position:'relative', width:'1280px', height:'720px', background:'#0B1224', padding:'0 72px' }}&gt;&#10;  &lt;Box style={{ position:'absolute', top:28, left:72, right:72, height:70, flexDirection:'row', alignItems:'center', gap:16 }}&gt;&#10;    &lt;Box style={{ width:8, height:40, background:'linear-gradient(135deg,#38bdf8,#818cf8)', borderRadius:4 }} /&gt;&#10;    &lt;Text style={{ fontSize:34, fontWeight:'bold', color:'#f1f5f9' }}&gt;一次会话的流转&lt;/Text&gt;&#10;  &lt;/Box&gt;&#10;  &lt;Box style={{ position:'absolute', top:140, left:72, right:72, bottom:90, flexDirection:'column', alignItems:'center', justifyContent:'center' }}&gt;&#10;    &lt;Image src=&quot;assets/flow.svg&quot; style={{ width:'100%', height:300, objectFit:'contain' }} /&gt;&#10;  &lt;/Box&gt;&#10;  &lt;Box style={{ position:'absolute', bottom:74, left:72, right:72 }}&gt;&#10;    &lt;Text style={{ fontSize:18, color:'#94a3b8', textAlign:'center', lineHeight:1.5 }}&gt;访客在任意渠道提问 → Agent 检索作答并附引用 → 识别购买信号 → 自动创建结构化工单（优先级/SLA）→ 通知销售跟进。全程四端同源，会话维度防重建单。&lt;/Text&gt;&#10;  &lt;/Box&gt;&#10;  &lt;Box style={{ position:'absolute', bottom:22, left:72, right:72, flexDirection:'row', justifyContent:'space-between' }}&gt;&#10;    &lt;Text style={{ fontSize:14, color:'#475569' }}&gt;EmbedDesk · AI Builder Cup 2026&lt;/Text&gt;&#10;    &lt;Text style={{ fontSize:14, color:'#475569' }}&gt;08 / 10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4"/>
          </a:solidFill>
          <a:ln/>
        </p:spPr>
        <p:txBody>
          <a:bodyPr/>
          <a:p/>
        </p:txBody>
      </p:sp>
      <p:sp>
        <p:nvSpPr>
          <p:cNvPr id="153" name=""/>
          <p:cNvSpPr/>
          <p:nvPr/>
        </p:nvSpPr>
        <p:spPr>
          <a:xfrm rot="0" flipH="0" flipV="0">
            <a:off x="685800" y="409575"/>
            <a:ext cx="76200" cy="3810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8BDF8"/>
              </a:gs>
              <a:gs pos="100000">
                <a:srgbClr val="818CF8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914400" y="409575"/>
            <a:ext cx="22669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F1F5F9"/>
                </a:solidFill>
                <a:latin typeface="Microsoft YaHei"/>
                <a:ea typeface="Microsoft YaHei"/>
              </a:rPr>
              <a:t>一次会话的流转</a:t>
            </a:r>
            <a:endParaRPr/>
          </a:p>
        </p:txBody>
      </p:sp>
      <p:pic>
        <p:nvPicPr>
          <p:cNvPr id="155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rcRect l="0" t="1584" r="0" b="1584"/>
          <a:stretch>
            <a:fillRect/>
          </a:stretch>
        </p:blipFill>
        <p:spPr>
          <a:xfrm rot="0" flipH="0" flipV="0">
            <a:off x="685800" y="2238375"/>
            <a:ext cx="10820400" cy="2857500"/>
          </a:xfrm>
          <a:prstGeom prst="rect">
            <a:avLst/>
          </a:prstGeom>
          <a:ln/>
        </p:spPr>
      </p:pic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685800" y="5534025"/>
            <a:ext cx="10820400" cy="619125"/>
          </a:xfrm>
          <a:prstGeom prst="rect"/>
        </p:spPr>
        <p:txBody>
          <a:bodyPr wrap="square" lIns="0" tIns="0" rIns="0" bIns="0">
            <a:normAutofit/>
          </a:bodyPr>
          <a:p>
            <a:pPr algn="ctr">
              <a:lnSpc>
                <a:spcPct val="150000"/>
              </a:lnSpc>
            </a:pP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访客在任意渠道提问</a:t>
            </a:r>
            <a:r>
              <a:rPr lang="en-US" sz="1350">
                <a:solidFill>
                  <a:srgbClr val="94A3B8"/>
                </a:solidFill>
                <a:latin typeface="Microsoft YaHei"/>
                <a:ea typeface="Microsoft YaHei"/>
              </a:rPr>
              <a:t xml:space="preserve"> → Agent </a:t>
            </a: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检索作答并附引用</a:t>
            </a:r>
            <a:r>
              <a:rPr lang="en-US" sz="1350">
                <a:solidFill>
                  <a:srgbClr val="94A3B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识别购买信号</a:t>
            </a:r>
            <a:r>
              <a:rPr lang="en-US" sz="1350">
                <a:solidFill>
                  <a:srgbClr val="94A3B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自动创建结构化工单（优先级</a:t>
            </a:r>
            <a:r>
              <a:rPr lang="en-US" sz="1350">
                <a:solidFill>
                  <a:srgbClr val="94A3B8"/>
                </a:solidFill>
                <a:latin typeface="Microsoft YaHei"/>
                <a:ea typeface="Microsoft YaHei"/>
              </a:rPr>
              <a:t>/SLA</a:t>
            </a: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）→</a:t>
            </a:r>
            <a:r>
              <a:rPr lang="en-US" sz="1350">
                <a:solidFill>
                  <a:srgbClr val="94A3B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94A3B8"/>
                </a:solidFill>
                <a:latin typeface="Microsoft YaHei"/>
                <a:ea typeface="Microsoft YaHei"/>
              </a:rPr>
              <a:t>通知销售跟进。全程四端同源，会话维度防重建单。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685800" y="6486525"/>
            <a:ext cx="2143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EmbedDesk · AI Builder Cup 2026</a:t>
            </a:r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11049000" y="64865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08 / 10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159" name="" descr="&lt;Slide style={{ position:'relative', width:'1280px', height:'720px', background:'#0B1224', padding:'0 72px' }}&gt;&#10;  &lt;Box style={{ position:'absolute', top:28, left:72, right:72, height:70, flexDirection:'row', alignItems:'center', gap:16 }}&gt;&#10;    &lt;Box style={{ width:8, height:40, background:'linear-gradient(135deg,#38bdf8,#818cf8)', borderRadius:4 }} /&gt;&#10;    &lt;Text style={{ fontSize:34, fontWeight:'bold', color:'#f1f5f9' }}&gt;MVP 已验证的数据&lt;/Text&gt;&#10;  &lt;/Box&gt;&#10;  &lt;Box style={{ position:'absolute', top:150, left:72, right:72, bottom:160, flexDirection:'row', gap:28, alignItems:'center', justifyContent:'center' }}&gt;&#10;    &lt;Box style={{ flex:1, alignItems:'center', justifyContent:'center' }}&gt;&#10;      &lt;Text style={{ fontSize:96, fontWeight:'bold', color:'#22d3ee', letterSpacing:-2 }}&gt;30s&lt;/Text&gt;&#10;      &lt;Text style={{ fontSize:20, color:'#cbd5e1', marginTop:12 }}&gt;首响延迟（原 2 小时）&lt;/Text&gt;&#10;    &lt;/Box&gt;&#10;    &lt;Box style={{ width:1, height:140, background:'#1e293b' }} /&gt;&#10;    &lt;Box style={{ flex:1, alignItems:'center', justifyContent:'center' }}&gt;&#10;      &lt;Text style={{ fontSize:96, fontWeight:'bold', color:'#38bdf8', letterSpacing:-2 }}&gt;96.4%&lt;/Text&gt;&#10;      &lt;Text style={{ fontSize:20, color:'#cbd5e1', marginTop:12 }}&gt;RAG Top-3 命中率&lt;/Text&gt;&#10;    &lt;/Box&gt;&#10;    &lt;Box style={{ width:1, height:140, background:'#1e293b' }} /&gt;&#10;    &lt;Box style={{ flex:1, alignItems:'center', justifyContent:'center' }}&gt;&#10;      &lt;Text style={{ fontSize:96, fontWeight:'bold', color:'#818cf8', letterSpacing:-2 }}&gt;16&lt;/Text&gt;&#10;      &lt;Text style={{ fontSize:20, color:'#cbd5e1', marginTop:12 }}&gt;款真实产品知识库&lt;/Text&gt;&#10;    &lt;/Box&gt;&#10;  &lt;/Box&gt;&#10;  &lt;Box style={{ position:'absolute', bottom:80, left:120, right:120 }}&gt;&#10;    &lt;Text style={{ fontSize:22, color:'#e2e8f0', textAlign:'center', lineHeight:1.6 }}&gt;可演示、可度量——首响从 2 小时降到 30 秒，命中率经实测验证，不是 PPT 概念。&lt;/Text&gt;&#10;  &lt;/Box&gt;&#10;  &lt;Box style={{ position:'absolute', bottom:22, left:72, right:72, flexDirection:'row', justifyContent:'space-between' }}&gt;&#10;    &lt;Text style={{ fontSize:14, color:'#475569' }}&gt;EmbedDesk · AI Builder Cup 2026&lt;/Text&gt;&#10;    &lt;Text style={{ fontSize:14, color:'#475569' }}&gt;09 / 10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B1224"/>
          </a:solidFill>
          <a:ln/>
        </p:spPr>
        <p:txBody>
          <a:bodyPr/>
          <a:p/>
        </p:txBody>
      </p:sp>
      <p:sp>
        <p:nvSpPr>
          <p:cNvPr id="161" name=""/>
          <p:cNvSpPr/>
          <p:nvPr/>
        </p:nvSpPr>
        <p:spPr>
          <a:xfrm rot="0" flipH="0" flipV="0">
            <a:off x="685800" y="409575"/>
            <a:ext cx="76200" cy="3810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8BDF8"/>
              </a:gs>
              <a:gs pos="100000">
                <a:srgbClr val="818CF8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914400" y="409575"/>
            <a:ext cx="2819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F1F5F9"/>
                </a:solidFill>
                <a:latin typeface="Microsoft YaHei"/>
                <a:ea typeface="Microsoft YaHei"/>
              </a:rPr>
              <a:t xml:space="preserve">MVP </a:t>
            </a:r>
            <a:r>
              <a:rPr lang="zh-CN" sz="2550" b="1">
                <a:solidFill>
                  <a:srgbClr val="F1F5F9"/>
                </a:solidFill>
                <a:latin typeface="Microsoft YaHei"/>
                <a:ea typeface="Microsoft YaHei"/>
              </a:rPr>
              <a:t>已验证的数据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1552575" y="2657475"/>
            <a:ext cx="1524000" cy="1104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200" b="1" spc="-150">
                <a:solidFill>
                  <a:srgbClr val="22D3EE"/>
                </a:solidFill>
                <a:latin typeface="Microsoft YaHei"/>
                <a:ea typeface="Microsoft YaHei"/>
              </a:rPr>
              <a:t>30s</a:t>
            </a:r>
            <a:endParaRPr/>
          </a:p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1343025" y="3876675"/>
            <a:ext cx="19431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CBD5E1"/>
                </a:solidFill>
                <a:latin typeface="Microsoft YaHei"/>
                <a:ea typeface="Microsoft YaHei"/>
              </a:rPr>
              <a:t>首响延迟（原</a:t>
            </a:r>
            <a:r>
              <a:rPr lang="en-US" sz="1500">
                <a:solidFill>
                  <a:srgbClr val="CBD5E1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500">
                <a:solidFill>
                  <a:srgbClr val="CBD5E1"/>
                </a:solidFill>
                <a:latin typeface="Microsoft YaHei"/>
                <a:ea typeface="Microsoft YaHei"/>
              </a:rPr>
              <a:t>小时）</a:t>
            </a:r>
            <a:endParaRPr/>
          </a:p>
        </p:txBody>
      </p:sp>
      <p:sp>
        <p:nvSpPr>
          <p:cNvPr id="165" name=""/>
          <p:cNvSpPr/>
          <p:nvPr/>
        </p:nvSpPr>
        <p:spPr>
          <a:xfrm rot="0" flipH="0" flipV="0">
            <a:off x="4200525" y="2714625"/>
            <a:ext cx="9525" cy="133350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4743450" y="2657475"/>
            <a:ext cx="2714625" cy="1104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200" b="1" spc="-150">
                <a:solidFill>
                  <a:srgbClr val="38BDF8"/>
                </a:solidFill>
                <a:latin typeface="Microsoft YaHei"/>
                <a:ea typeface="Microsoft YaHei"/>
              </a:rPr>
              <a:t>96.4%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5295900" y="3876675"/>
            <a:ext cx="16097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>
                <a:solidFill>
                  <a:srgbClr val="CBD5E1"/>
                </a:solidFill>
                <a:latin typeface="Microsoft YaHei"/>
                <a:ea typeface="Microsoft YaHei"/>
              </a:rPr>
              <a:t xml:space="preserve">RAG Top-3 </a:t>
            </a:r>
            <a:r>
              <a:rPr lang="zh-CN" sz="1500">
                <a:solidFill>
                  <a:srgbClr val="CBD5E1"/>
                </a:solidFill>
                <a:latin typeface="Microsoft YaHei"/>
                <a:ea typeface="Microsoft YaHei"/>
              </a:rPr>
              <a:t>命中率</a:t>
            </a:r>
            <a:endParaRPr/>
          </a:p>
        </p:txBody>
      </p:sp>
      <p:sp>
        <p:nvSpPr>
          <p:cNvPr id="168" name=""/>
          <p:cNvSpPr/>
          <p:nvPr/>
        </p:nvSpPr>
        <p:spPr>
          <a:xfrm rot="0" flipH="0" flipV="0">
            <a:off x="7981950" y="2714625"/>
            <a:ext cx="9525" cy="1333500"/>
          </a:xfrm>
          <a:prstGeom prst="rect">
            <a:avLst/>
          </a:prstGeom>
          <a:solidFill>
            <a:srgbClr val="1E293B"/>
          </a:solidFill>
          <a:ln/>
        </p:spPr>
        <p:txBody>
          <a:bodyPr/>
          <a:p/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9334500" y="2657475"/>
            <a:ext cx="1095375" cy="1104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200" b="1" spc="-150">
                <a:solidFill>
                  <a:srgbClr val="818CF8"/>
                </a:solidFill>
                <a:latin typeface="Microsoft YaHei"/>
                <a:ea typeface="Microsoft YaHei"/>
              </a:rPr>
              <a:t>16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9124950" y="3876675"/>
            <a:ext cx="1524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CBD5E1"/>
                </a:solidFill>
                <a:latin typeface="Microsoft YaHei"/>
                <a:ea typeface="Microsoft YaHei"/>
              </a:rPr>
              <a:t>款真实产品知识库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1143000" y="5686425"/>
            <a:ext cx="9906000" cy="409575"/>
          </a:xfrm>
          <a:prstGeom prst="rect"/>
        </p:spPr>
        <p:txBody>
          <a:bodyPr wrap="none" lIns="0" tIns="0" rIns="0" bIns="0"/>
          <a:p>
            <a:pPr algn="ctr">
              <a:lnSpc>
                <a:spcPct val="160000"/>
              </a:lnSpc>
            </a:pPr>
            <a:r>
              <a:rPr lang="zh-CN" sz="1650">
                <a:solidFill>
                  <a:srgbClr val="E2E8F0"/>
                </a:solidFill>
                <a:latin typeface="Microsoft YaHei"/>
                <a:ea typeface="Microsoft YaHei"/>
              </a:rPr>
              <a:t>可演示、可度量——首响从</a:t>
            </a:r>
            <a:r>
              <a:rPr lang="en-US" sz="1650">
                <a:solidFill>
                  <a:srgbClr val="E2E8F0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650">
                <a:solidFill>
                  <a:srgbClr val="E2E8F0"/>
                </a:solidFill>
                <a:latin typeface="Microsoft YaHei"/>
                <a:ea typeface="Microsoft YaHei"/>
              </a:rPr>
              <a:t>小时降到</a:t>
            </a:r>
            <a:r>
              <a:rPr lang="en-US" sz="1650">
                <a:solidFill>
                  <a:srgbClr val="E2E8F0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650">
                <a:solidFill>
                  <a:srgbClr val="E2E8F0"/>
                </a:solidFill>
                <a:latin typeface="Microsoft YaHei"/>
                <a:ea typeface="Microsoft YaHei"/>
              </a:rPr>
              <a:t>秒，命中率经实测验证，不是</a:t>
            </a:r>
            <a:r>
              <a:rPr lang="en-US" sz="1650">
                <a:solidFill>
                  <a:srgbClr val="E2E8F0"/>
                </a:solidFill>
                <a:latin typeface="Microsoft YaHei"/>
                <a:ea typeface="Microsoft YaHei"/>
              </a:rPr>
              <a:t xml:space="preserve"> PPT </a:t>
            </a:r>
            <a:r>
              <a:rPr lang="zh-CN" sz="1650">
                <a:solidFill>
                  <a:srgbClr val="E2E8F0"/>
                </a:solidFill>
                <a:latin typeface="Microsoft YaHei"/>
                <a:ea typeface="Microsoft YaHei"/>
              </a:rPr>
              <a:t>概念。</a:t>
            </a:r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685800" y="6486525"/>
            <a:ext cx="21431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EmbedDesk · AI Builder Cup 2026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11049000" y="648652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75569"/>
                </a:solidFill>
                <a:latin typeface="Microsoft YaHei"/>
                <a:ea typeface="Microsoft YaHei"/>
              </a:rPr>
              <a:t>09 / 10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position:'relative', width:'1280px', height:'720px', background:'#070b16', padding:0 }}&gt;&#10;  &lt;Image src=&quot;assets/tech_hero.svg&quot; style={{ position:'absolute', top:0, left:0, width:'1280px', height:'720px', objectFit:'cover', opacity:0.35 }} /&gt;&#10;  &lt;Box style={{ position:'absolute', top:0, left:0, width:'1280px', height:'720px', justifyContent:'center', alignItems:'center' }}&gt;&#10;    &lt;Text style={{ fontSize:58, fontWeight:'bold', color:'#f1f5f9', textAlign:'center' }}&gt;一行代码，激活网站客服力&lt;/Text&gt;&#10;    &lt;Box style={{ width:120, height:8, background:'linear-gradient(135deg,#38bdf8,#818cf8)', borderRadius:4, margin:'24px 0' }} /&gt;&#10;    &lt;Box style={{ flexDirection:'row', gap:20, marginTop:8 }}&gt;&#10;      &lt;Box style={{ background:'#0e1830', border:'1px solid #38bdf8', borderRadius:14, padding:'18px 28px' }}&gt;&#10;        &lt;Text style={{ fontSize:20, fontWeight:'bold', color:'#7dd3fc' }}&gt;GitHub 仓库&lt;/Text&gt;&#10;        &lt;Text style={{ fontSize:16, color:'#94a3b8', marginTop:6 }}&gt;Aqr325/embeddesk（公开）&lt;/Text&gt;&#10;      &lt;/Box&gt;&#10;      &lt;Box style={{ background:'#0e1830', border:'1px solid #818cf8', borderRadius:14, padding:'18px 28px' }}&gt;&#10;        &lt;Text style={{ fontSize:20, fontWeight:'bold', color:'#a5b4fc' }}&gt;演示视频&lt;/Text&gt;&#10;        &lt;Text style={{ fontSize:16, color:'#94a3b8', marginTop:6 }}&gt; embeddesk-demo.mp4（95s）&lt;/Text&gt;&#10;      &lt;/Box&gt;&#10;      &lt;Box style={{ background:'#0e1830', border:'1px solid #22d3ee', borderRadius:14, padding:'18px 28px' }}&gt;&#10;        &lt;Text style={{ fontSize:20, fontWeight:'bold', color:'#67e8f9' }}&gt;实时原型&lt;/Text&gt;&#10;        &lt;Text style={{ fontSize:16, color:'#94a3b8', marginTop:6 }}&gt;Cloud Run（部署后回填）&lt;/Text&gt;&#10;      &lt;/Box&gt;&#10;    &lt;/Box&gt;&#10;    &lt;Text style={{ fontSize:22, color:'#cbd5e1', marginTop:36, textAlign:'center' }}&gt;EmbedDesk · 把客服会话变成销售线索&lt;/Text&gt;&#10;  &lt;/Box&gt;&#10;  &lt;Box style={{ position:'absolute', bottom:30, left:0, right:0 }}&gt;&#10;    &lt;Text style={{ fontSize:14, color:'#64748b', textAlign:'center' }}&gt;Google Cloud AI Builder Cup 2026 · JAPAC · Future of Work &amp;amp; Enterprise Productivity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70B16"/>
          </a:solidFill>
          <a:ln/>
        </p:spPr>
        <p:txBody>
          <a:bodyPr/>
          <a:p/>
        </p:txBody>
      </p:sp>
      <p:pic>
        <p:nvPicPr>
          <p:cNvPr id="11" name=""/>
          <p:cNvPicPr>
            <a:picLocks noChangeAspect="1"/>
          </p:cNvPicPr>
          <p:nvPr/>
        </p:nvPicPr>
        <p:blipFill>
          <a:blip>
            <a:alphaModFix amt="35000"/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2781300" y="2085975"/>
            <a:ext cx="6629400" cy="666750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zh-CN" sz="4350" b="1">
                <a:solidFill>
                  <a:srgbClr val="F1F5F9"/>
                </a:solidFill>
                <a:latin typeface="Microsoft YaHei"/>
                <a:ea typeface="Microsoft YaHei"/>
              </a:rPr>
              <a:t>一行代码，激活网站客服力</a:t>
            </a:r>
            <a:endParaRPr/>
          </a:p>
        </p:txBody>
      </p:sp>
      <p:sp>
        <p:nvSpPr>
          <p:cNvPr id="13" name=""/>
          <p:cNvSpPr/>
          <p:nvPr/>
        </p:nvSpPr>
        <p:spPr>
          <a:xfrm rot="0" flipH="0" flipV="0">
            <a:off x="5524500" y="2981325"/>
            <a:ext cx="1143000" cy="762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38BDF8"/>
              </a:gs>
              <a:gs pos="100000">
                <a:srgbClr val="818CF8"/>
              </a:gs>
            </a:gsLst>
            <a:lin ang="2700000" scaled="1"/>
          </a:gradFill>
          <a:ln/>
        </p:spPr>
        <p:txBody>
          <a:bodyPr/>
          <a:p/>
        </p:txBody>
      </p:sp>
      <p:sp>
        <p:nvSpPr>
          <p:cNvPr id="14" name=""/>
          <p:cNvSpPr/>
          <p:nvPr/>
        </p:nvSpPr>
        <p:spPr>
          <a:xfrm rot="0" flipH="0" flipV="0">
            <a:off x="2009775" y="3362325"/>
            <a:ext cx="2590800" cy="819150"/>
          </a:xfrm>
          <a:prstGeom prst="roundRect">
            <a:avLst>
              <a:gd name="adj" fmla="val 16279"/>
            </a:avLst>
          </a:prstGeom>
          <a:solidFill>
            <a:srgbClr val="0E1830"/>
          </a:solidFill>
          <a:ln w="12700">
            <a:solidFill>
              <a:srgbClr val="38BDF8"/>
            </a:solidFill>
            <a:prstDash val="solid"/>
          </a:ln>
        </p:spPr>
        <p:txBody>
          <a:bodyPr/>
          <a:p/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2276475" y="3533775"/>
            <a:ext cx="20574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7DD3FC"/>
                </a:solidFill>
                <a:latin typeface="Microsoft YaHei"/>
                <a:ea typeface="Microsoft YaHei"/>
              </a:rPr>
              <a:t xml:space="preserve">GitHub </a:t>
            </a:r>
            <a:r>
              <a:rPr lang="zh-CN" sz="1500" b="1">
                <a:solidFill>
                  <a:srgbClr val="7DD3FC"/>
                </a:solidFill>
                <a:latin typeface="Microsoft YaHei"/>
                <a:ea typeface="Microsoft YaHei"/>
              </a:rPr>
              <a:t>仓库</a:t>
            </a:r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2276475" y="3819525"/>
            <a:ext cx="2057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Aqr325/embeddesk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（公开）</a:t>
            </a:r>
            <a:endParaRPr/>
          </a:p>
        </p:txBody>
      </p:sp>
      <p:sp>
        <p:nvSpPr>
          <p:cNvPr id="17" name=""/>
          <p:cNvSpPr/>
          <p:nvPr/>
        </p:nvSpPr>
        <p:spPr>
          <a:xfrm rot="0" flipH="0" flipV="0">
            <a:off x="4791075" y="3362325"/>
            <a:ext cx="2828925" cy="819150"/>
          </a:xfrm>
          <a:prstGeom prst="roundRect">
            <a:avLst>
              <a:gd name="adj" fmla="val 16279"/>
            </a:avLst>
          </a:prstGeom>
          <a:solidFill>
            <a:srgbClr val="0E1830"/>
          </a:solidFill>
          <a:ln w="12700">
            <a:solidFill>
              <a:srgbClr val="818CF8"/>
            </a:solidFill>
            <a:prstDash val="solid"/>
          </a:ln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5057775" y="3533775"/>
            <a:ext cx="22955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A5B4FC"/>
                </a:solidFill>
                <a:latin typeface="Microsoft YaHei"/>
                <a:ea typeface="Microsoft YaHei"/>
              </a:rPr>
              <a:t>演示视频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5057775" y="3819525"/>
            <a:ext cx="22955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 xml:space="preserve"> embeddesk-demo.mp4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（</a:t>
            </a: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95s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0" name=""/>
          <p:cNvSpPr/>
          <p:nvPr/>
        </p:nvSpPr>
        <p:spPr>
          <a:xfrm rot="0" flipH="0" flipV="0">
            <a:off x="7810500" y="3362325"/>
            <a:ext cx="2371725" cy="819150"/>
          </a:xfrm>
          <a:prstGeom prst="roundRect">
            <a:avLst>
              <a:gd name="adj" fmla="val 16279"/>
            </a:avLst>
          </a:prstGeom>
          <a:solidFill>
            <a:srgbClr val="0E1830"/>
          </a:solidFill>
          <a:ln w="12700">
            <a:solidFill>
              <a:srgbClr val="22D3EE"/>
            </a:solidFill>
            <a:prstDash val="solid"/>
          </a:ln>
        </p:spPr>
        <p:txBody>
          <a:bodyPr/>
          <a:p/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8077200" y="3533775"/>
            <a:ext cx="18383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67E8F9"/>
                </a:solidFill>
                <a:latin typeface="Microsoft YaHei"/>
                <a:ea typeface="Microsoft YaHei"/>
              </a:rPr>
              <a:t>实时原型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8077200" y="3819525"/>
            <a:ext cx="1838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94A3B8"/>
                </a:solidFill>
                <a:latin typeface="Microsoft YaHei"/>
                <a:ea typeface="Microsoft YaHei"/>
              </a:rPr>
              <a:t>Cloud Run</a:t>
            </a:r>
            <a:r>
              <a:rPr lang="zh-CN" sz="1200">
                <a:solidFill>
                  <a:srgbClr val="94A3B8"/>
                </a:solidFill>
                <a:latin typeface="Microsoft YaHei"/>
                <a:ea typeface="Microsoft YaHei"/>
              </a:rPr>
              <a:t>（部署后回填）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4257675" y="4524375"/>
            <a:ext cx="3676650" cy="25717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650">
                <a:solidFill>
                  <a:srgbClr val="CBD5E1"/>
                </a:solidFill>
                <a:latin typeface="Microsoft YaHei"/>
                <a:ea typeface="Microsoft YaHei"/>
              </a:rPr>
              <a:t xml:space="preserve">EmbedDesk · </a:t>
            </a:r>
            <a:r>
              <a:rPr lang="zh-CN" sz="1650">
                <a:solidFill>
                  <a:srgbClr val="CBD5E1"/>
                </a:solidFill>
                <a:latin typeface="Microsoft YaHei"/>
                <a:ea typeface="Microsoft YaHei"/>
              </a:rPr>
              <a:t>把客服会话变成销售线索</a:t>
            </a:r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0" y="6410325"/>
            <a:ext cx="12192000" cy="161925"/>
          </a:xfrm>
          <a:prstGeom prst="rect"/>
        </p:spPr>
        <p:txBody>
          <a:bodyPr wrap="none" lIns="0" tIns="0" rIns="0" bIns="0"/>
          <a:p>
            <a:pPr algn="ctr">
              <a:lnSpc>
                <a:spcPct val="100000"/>
              </a:lnSpc>
            </a:pPr>
            <a:r>
              <a:rPr lang="en-US" sz="1050">
                <a:solidFill>
                  <a:srgbClr val="64748B"/>
                </a:solidFill>
                <a:latin typeface="Microsoft YaHei"/>
                <a:ea typeface="Microsoft YaHei"/>
              </a:rPr>
              <a:t>Google Cloud AI Builder Cup 2026 · JAPAC · Future of Work &amp; Enterprise Productivity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2026-10-16T23:43:17Z</dcterms:created>
  <dcterms:modified xsi:type="dcterms:W3CDTF">2026-10-16T23:43:17Z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{"AIGC":{"Label":"1","ContentProducer":"00119111010856365494821B355","ProduceID":"f3e79b14496c406e84a7480da33820e8","ReservedCode1":"","ContentPropagator":"00119111010856365494821B355","PropagateID":"f3e79b14496c406e84a7480da33820e8","ReservedCode2":""}}</vt:lpwstr>
  </property>
</Properties>
</file>