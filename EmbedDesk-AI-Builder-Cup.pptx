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Default Extension="png" ContentType="image/png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slideLayouts/slideLayout9.xml" ContentType="application/vnd.openxmlformats-officedocument.presentationml.slideLayout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1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p15="http://schemas.microsoft.com/office/powerpoint/2012/main" xmlns:mc="http://schemas.openxmlformats.org/markup-compatibility/2006" firstSlideNum="1" embedTrueTypeFonts="1" mc:Ignorable="p15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5143500"/>
  <p:notesSz cx="6858000" cy="9144000"/>
  <p:embeddedFontLst>
    <p:embeddedFont>
      <p:font typeface="Google Sans Flex Medium"/>
      <p:regular r:id="rId18"/>
      <p:bold r:id="rId19"/>
    </p:embeddedFont>
    <p:embeddedFont>
      <p:font typeface="Google Sans Flex"/>
      <p:regular r:id="rId20"/>
      <p:bold r:id="rId21"/>
    </p:embeddedFont>
    <p:embeddedFont>
      <p:font typeface="Google Sans Flex SemiBold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 xmlns:a="http://schemas.openxmlformats.org/drawingml/2006/main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6" Type="http://schemas.openxmlformats.org/officeDocument/2006/relationships/slide" Target="slides/slide16.xml" /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4" Type="http://schemas.openxmlformats.org/officeDocument/2006/relationships/slide" Target="slides/slide14.xml" /><Relationship Id="rId21" Type="http://schemas.openxmlformats.org/officeDocument/2006/relationships/font" Target="fonts/font4.fntdata" /><Relationship Id="rId2" Type="http://schemas.openxmlformats.org/officeDocument/2006/relationships/slide" Target="slides/slide2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4" Type="http://schemas.openxmlformats.org/officeDocument/2006/relationships/slide" Target="slides/slide4.xml" /><Relationship Id="rId15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8" Type="http://schemas.openxmlformats.org/officeDocument/2006/relationships/font" Target="fonts/font1.fntdata" /><Relationship Id="rId6" Type="http://schemas.openxmlformats.org/officeDocument/2006/relationships/slide" Target="slides/slide6.xml" /><Relationship Id="rId19" Type="http://schemas.openxmlformats.org/officeDocument/2006/relationships/font" Target="fonts/font2.fntdata" /><Relationship Id="rId20" Type="http://schemas.openxmlformats.org/officeDocument/2006/relationships/font" Target="fonts/font3.fntdata" /><Relationship Id="rId22" Type="http://schemas.openxmlformats.org/officeDocument/2006/relationships/font" Target="fonts/font5.fntdata" /><Relationship Id="rId23" Type="http://schemas.openxmlformats.org/officeDocument/2006/relationships/font" Target="fonts/font6.fntdata" /><Relationship Id="rId24" Type="http://schemas.openxmlformats.org/officeDocument/2006/relationships/presProps" Target="presProps.xml" /><Relationship Id="rId25" Type="http://schemas.openxmlformats.org/officeDocument/2006/relationships/viewProps" Target="viewProps.xml" /><Relationship Id="rId7" Type="http://schemas.openxmlformats.org/officeDocument/2006/relationships/slide" Target="slides/slide7.xml" /><Relationship Id="rId3" Type="http://schemas.openxmlformats.org/officeDocument/2006/relationships/slide" Target="slides/slide3.xml" /><Relationship Id="rId5" Type="http://schemas.openxmlformats.org/officeDocument/2006/relationships/slide" Target="slides/slide5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p>
            <a:pPr/>
            <a:endParaRPr/>
          </a:p>
        </p:txBody>
      </p:sp>
      <p:sp>
        <p:nvSpPr>
          <p:cNvPr id="3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/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/>
            <a:endParaRPr/>
          </a:p>
        </p:txBody>
      </p:sp>
      <p:sp>
        <p:nvSpPr>
          <p:cNvPr id="3" name="Google Shape;11;p2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/>
            <a:endParaRPr/>
          </a:p>
        </p:txBody>
      </p:sp>
      <p:sp>
        <p:nvSpPr>
          <p:cNvPr id="4" name="Google Shape;12;p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type="secHead">
  <p:cSld name="SECTION_HEADER"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/>
            <a:endParaRPr/>
          </a:p>
        </p:txBody>
      </p:sp>
      <p:sp>
        <p:nvSpPr>
          <p:cNvPr id="7" name="Google Shape;15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type="tx">
  <p:cSld name="TITLE_AND_BODY">
    <p:spTree>
      <p:nvGrpSpPr>
        <p:cNvPr id="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/>
            <a:endParaRPr/>
          </a:p>
        </p:txBody>
      </p:sp>
      <p:sp>
        <p:nvSpPr>
          <p:cNvPr id="12" name="Google Shape;18;p4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/>
            <a:endParaRPr/>
          </a:p>
        </p:txBody>
      </p:sp>
      <p:sp>
        <p:nvSpPr>
          <p:cNvPr id="13" name="Google Shape;19;p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a="http://schemas.openxmlformats.org/drawingml/2006/main" type="twoColTx">
  <p:cSld name="TITLE_AND_TWO_COLUMNS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/>
            <a:endParaRPr/>
          </a:p>
        </p:txBody>
      </p:sp>
      <p:sp>
        <p:nvSpPr>
          <p:cNvPr id="16" name="Google Shape;22;p5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/>
            <a:endParaRPr/>
          </a:p>
        </p:txBody>
      </p:sp>
      <p:sp>
        <p:nvSpPr>
          <p:cNvPr id="17" name="Google Shape;23;p5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/>
            <a:endParaRPr/>
          </a:p>
        </p:txBody>
      </p:sp>
      <p:sp>
        <p:nvSpPr>
          <p:cNvPr id="18" name="Google Shape;24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a="http://schemas.openxmlformats.org/drawingml/2006/main" type="titleOnly">
  <p:cSld name="TITLE_ONLY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/>
            <a:endParaRPr/>
          </a:p>
        </p:txBody>
      </p:sp>
      <p:sp>
        <p:nvSpPr>
          <p:cNvPr id="21" name="Google Shape;27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a="http://schemas.openxmlformats.org/drawingml/2006/main">
  <p:cSld name="ONE_COLUMN_TEXT">
    <p:spTree>
      <p:nvGrpSpPr>
        <p:cNvPr id="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pPr/>
            <a:endParaRPr/>
          </a:p>
        </p:txBody>
      </p:sp>
      <p:sp>
        <p:nvSpPr>
          <p:cNvPr id="24" name="Google Shape;30;p7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/>
            <a:endParaRPr/>
          </a:p>
        </p:txBody>
      </p:sp>
      <p:sp>
        <p:nvSpPr>
          <p:cNvPr id="25" name="Google Shape;31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a="http://schemas.openxmlformats.org/drawingml/2006/main">
  <p:cSld name="MAIN_POINT"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pPr/>
            <a:endParaRPr/>
          </a:p>
        </p:txBody>
      </p:sp>
      <p:sp>
        <p:nvSpPr>
          <p:cNvPr id="28" name="Google Shape;34;p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a="http://schemas.openxmlformats.org/drawingml/2006/main">
  <p:cSld name="SECTION_TITLE_AND_DESCRIPTION"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/>
            <a:endParaRPr/>
          </a:p>
        </p:txBody>
      </p:sp>
      <p:sp>
        <p:nvSpPr>
          <p:cNvPr id="32" name="Google Shape;38;p9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/>
            <a:endParaRPr/>
          </a:p>
        </p:txBody>
      </p:sp>
      <p:sp>
        <p:nvSpPr>
          <p:cNvPr id="33" name="Google Shape;39;p9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/>
            <a:endParaRPr/>
          </a:p>
        </p:txBody>
      </p:sp>
      <p:sp>
        <p:nvSpPr>
          <p:cNvPr id="34" name="Google Shape;40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a="http://schemas.openxmlformats.org/drawingml/2006/main">
  <p:cSld name="CAPTION_ONLY">
    <p:spTree>
      <p:nvGrpSpPr>
        <p:cNvPr id="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42;p10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pPr/>
            <a:endParaRPr/>
          </a:p>
        </p:txBody>
      </p:sp>
      <p:sp>
        <p:nvSpPr>
          <p:cNvPr id="37" name="Google Shape;43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a="http://schemas.openxmlformats.org/drawingml/2006/main">
  <p:cSld name="BIG_NUMBER"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45;p11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pPr/>
            <a:r>
              <a:rPr/>
              <a:t>xx%</a:t>
            </a:r>
            <a:endParaRPr/>
          </a:p>
        </p:txBody>
      </p:sp>
      <p:sp>
        <p:nvSpPr>
          <p:cNvPr id="40" name="Google Shape;46;p11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/>
            <a:endParaRPr/>
          </a:p>
        </p:txBody>
      </p:sp>
      <p:sp>
        <p:nvSpPr>
          <p:cNvPr id="41" name="Google Shape;47;p1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a="http://schemas.openxmlformats.org/drawingml/2006/main" type="blank">
  <p:cSld name="BLANK">
    <p:spTree>
      <p:nvGrpSpPr>
        <p:cNvPr id="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49;p1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2" Type="http://schemas.openxmlformats.org/officeDocument/2006/relationships/slideLayout" Target="../slideLayouts/slideLayout3.xml" /><Relationship Id="rId0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1.xml" /><Relationship Id="rId1" Type="http://schemas.openxmlformats.org/officeDocument/2006/relationships/slideLayout" Target="../slideLayouts/slideLayout2.xml" /><Relationship Id="rId4" Type="http://schemas.openxmlformats.org/officeDocument/2006/relationships/slideLayout" Target="../slideLayouts/slideLayout5.xml" /><Relationship Id="rId11" Type="http://schemas.openxmlformats.org/officeDocument/2006/relationships/theme" Target="../theme/theme1.xml" /><Relationship Id="rId3" Type="http://schemas.openxmlformats.org/officeDocument/2006/relationships/slideLayout" Target="../slideLayouts/slideLayout4.xml" /><Relationship Id="rId5" Type="http://schemas.openxmlformats.org/officeDocument/2006/relationships/slideLayout" Target="../slideLayouts/slideLayout6.xml" /><Relationship Id="rId6" Type="http://schemas.openxmlformats.org/officeDocument/2006/relationships/slideLayout" Target="../slideLayouts/slideLayout7.xml" /><Relationship Id="rId7" Type="http://schemas.openxmlformats.org/officeDocument/2006/relationships/slideLayout" Target="../slideLayouts/slideLayout8.xml" /><Relationship Id="rId8" Type="http://schemas.openxmlformats.org/officeDocument/2006/relationships/slideLayout" Target="../slideLayouts/slideLayout9.xml" /><Relationship Id="rId9" Type="http://schemas.openxmlformats.org/officeDocument/2006/relationships/slideLayout" Target="../slideLayouts/slideLayout10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simple-light-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/>
            <a:endParaRPr/>
          </a:p>
        </p:txBody>
      </p:sp>
      <p:sp>
        <p:nvSpPr>
          <p:cNvPr id="3" name="Google Shape;7;p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pPr/>
            <a:endParaRPr/>
          </a:p>
        </p:txBody>
      </p:sp>
      <p:sp>
        <p:nvSpPr>
          <p:cNvPr id="4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2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6.png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media/image3.png" /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.pn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.png" /><Relationship Id="rId1" Type="http://schemas.openxmlformats.org/officeDocument/2006/relationships/image" Target="media/image2.pn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7.png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Relationship Id="rId3" Type="http://schemas.openxmlformats.org/officeDocument/2006/relationships/image" Target="media/image8.pn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Relationship Id="rId3" Type="http://schemas.openxmlformats.org/officeDocument/2006/relationships/image" Target="media/image9.png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.png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.png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3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3" Type="http://schemas.openxmlformats.org/officeDocument/2006/relationships/image" Target="media/image4.png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.pn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5.png"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Google Sans Flex"/>
                <a:ea typeface="Google Sans Flex"/>
                <a:cs typeface="Google Sans Flex"/>
                <a:sym typeface="Google Sans Flex"/>
              </a:rPr>
              <a:t>Team Details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Google Sans Flex"/>
                <a:ea typeface="Google Sans Flex"/>
                <a:cs typeface="Google Sans Flex"/>
                <a:sym typeface="Google Sans Flex"/>
              </a:rPr>
              <a:t>Team name:   EmbedDesk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  Ryan Wan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  Small and mid-sized businesses and device vendors cannot easily embed enterprise-grade, multi-channel AI customer support into their websites. EmbedDesk turns any site into an intelligent, ticket-generating support surface with one line of code.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3" name="Google Shape;55;p13" title="Frame 144.png"/>
          <p:cNvPicPr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56;p13" title="Frame 144.png"/>
          <p:cNvPicPr/>
          <p:nvPr/>
        </p:nvPicPr>
        <p:blipFill rotWithShape="1">
          <a:blip r:embed="rId2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61;p14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45" name="Google Shape;64;p14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69;p15" title="Group 427319979.png"/>
          <p:cNvPicPr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50" name="TextBox 71"/>
          <p:cNvSpPr txBox="1"/>
          <p:nvPr/>
        </p:nvSpPr>
        <p:spPr>
          <a:xfrm>
            <a:off x="411480" y="1417320"/>
            <a:ext cx="43936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lang="zh-CN" sz="1400" b="0">
                <a:solidFill>
                  <a:srgbClr val="202124"/>
                </a:solidFill>
                <a:latin typeface="Arial"/>
              </a:rPr>
              <a:t>EmbedDesk — an embeddable AI customer-service agent built on Google Cloud.</a:t>
            </a: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r>
              <a:rPr lang="zh-CN" sz="1400" b="0">
                <a:solidFill>
                  <a:srgbClr val="202124"/>
                </a:solidFill>
                <a:latin typeface="Arial"/>
              </a:rPr>
              <a:t>A single &lt;script&gt; tag drops a conversational support widget into any website. The agent answers from a Retrieval-Augmented Generation (RAG) knowledge base, uses tools to look up orders and customers and to file support tickets, and escalates to a human agent through a deterministic HANDOFF token.</a:t>
            </a: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r>
              <a:rPr lang="zh-CN" sz="1400" b="0">
                <a:solidFill>
                  <a:srgbClr val="202124"/>
                </a:solidFill>
                <a:latin typeface="Arial"/>
              </a:rPr>
              <a:t>One shared LLM core serves every channel — web, embedded iframe, email (IMAP+SMTP) and instant messaging — so a business gets a consistent, 24/7 support presence without building any infrastructure of its own.</a:t>
            </a: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r>
              <a:rPr lang="zh-CN" sz="1400" b="0">
                <a:solidFill>
                  <a:srgbClr val="202124"/>
                </a:solidFill>
                <a:latin typeface="Arial"/>
              </a:rPr>
              <a:t>Everything runs serverlessly on Google Cloud — Cloud Run or Firebase Cloud Functions (the deployed prototype runs on Firebase); the knowledge base and support data persist in Firestore when cloud credentials are set (local SQLite in demo mode); conversations are powered by Gemini, with an automatic local-RAG fallback so the demo never hard-fails.</a:t>
            </a: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endParaRPr sz="1400" b="0">
              <a:solidFill>
                <a:srgbClr val="20212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76;p16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77;p16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56" name="TextBox 79"/>
          <p:cNvSpPr txBox="1"/>
          <p:nvPr/>
        </p:nvSpPr>
        <p:spPr>
          <a:xfrm>
            <a:off x="411480" y="2240280"/>
            <a:ext cx="83210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How different?  Developer-first and multi-channel: a real tool-use agent (search knowledge, query order, get customer, create ticket) with a deterministic human-escalation path — deployable as code, not a walled-garden chatbot builder.</a:t>
            </a:r>
            <a:endParaRPr/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How it solves the problem:  one embed snippet replaces a whole help-desk stack — RAG answers, order/customer lookups, auto-created tickets with sentiment tagging and SLA, and sales notification, all on serverless Cloud Run.</a:t>
            </a:r>
            <a:endParaRPr/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USP:  "One line of code, expert-grade support on any site." Deterministic guardrails (knowledge-gap detection, escalation workflow, auto priority/SLA) make it safe for real customer-facing use — not just a demo.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84;p17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85;p17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62" name="TextBox 87"/>
          <p:cNvSpPr txBox="1"/>
          <p:nvPr/>
        </p:nvSpPr>
        <p:spPr>
          <a:xfrm>
            <a:off x="411480" y="1417320"/>
            <a:ext cx="83210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1.  One-line embeddable chat widget (Shadow DOM, themeable, works on any site)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2.  RAG knowledge base — synonym / colloquial query expansion + optional semantic re-ranking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3.  Tool-using agent:  search_knowledge · query_order · get_customer · create_ticket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4.  Multi-channel:  web · embed · email (IMAP+SMTP) · IM — one shared agent core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5.  Deterministic human handoff (HANDOFF_TOKEN) + agent-created tickets with dedup guard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6.  Sentiment detection + smart escalation (automatic priority and SLA)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7.  Agent Copilot — real-time reply suggestions for human agents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8.  CSAT surveys, insights dashboard (BigQuery) and full LLM call observability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92;p18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93;p18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68" name="Picture 95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9" y="1417320"/>
            <a:ext cx="6096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100;p19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101;p19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4" name="Picture 103" descr="wire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9" y="1417320"/>
            <a:ext cx="6096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7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108;p20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109;p20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80" name="Picture 111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9" y="1417320"/>
            <a:ext cx="6096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116;p21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117;p21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6" name="TextBox 119"/>
          <p:cNvSpPr txBox="1"/>
          <p:nvPr/>
        </p:nvSpPr>
        <p:spPr>
          <a:xfrm>
            <a:off x="411480" y="1417320"/>
            <a:ext cx="26837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Technologies actually used in the submitted solution: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Google Cloud serverless — Cloud Run or Firebase Cloud Functions host the web frontend + API backend; the deployed prototype runs on Firebase.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Google Gemini — the large language model powering the agent: tool-use loop, RAG answering, summarization.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Firestore (Firebase) — serverless NoSQL datastore for the knowledge base, sessions, tickets and RAG vectors — the durable data layer of Firebase.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Firebase — the app data platform wrapping Firestore; Firebase Auth / Hosting are the planned next-step integrations.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Vertex AI Search — semantic retrieval (RAG) over the knowledge base with re-ranking.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BigQuery — analytics and insights over ticket and conversation data.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All cloud services are environment-gated: the deployed demo instance runs the same code on local SQLite + lexical RAG with zero credentials; setting env vars switches to the full cloud stack with no code changes.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endParaRPr sz="1300" b="0">
              <a:solidFill>
                <a:srgbClr val="20212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124;p22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25;p22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" name="TextBox 127"/>
          <p:cNvSpPr txBox="1"/>
          <p:nvPr/>
        </p:nvSpPr>
        <p:spPr>
          <a:xfrm>
            <a:off x="411480" y="1417320"/>
            <a:ext cx="14264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Estimated implementation cost:  ~$0 per month at demo scale.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Firebase Blaze free tier (2,000,000 function invocations / month) covers the prototype; scale-to-zero when idle.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Gemini API free tier / pay-per-token; Firestore and BigQuery stay within their free allowances.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No minimum spend. Deleting the Firebase project after evaluation stops all cost immediately.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endParaRPr sz="1300" b="0">
              <a:solidFill>
                <a:srgbClr val="20212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32;p23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3;p23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" name="Picture 135" descr="snapsh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9" y="1417320"/>
            <a:ext cx="6096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40;p24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41;p24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22" name="TextBox 143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4285F4"/>
                </a:solidFill>
                <a:latin typeface="Arial"/>
              </a:rPr>
              <a:t>Load test (local, SQLite mode):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~492 requests/s sustained ingest at 100 concurrent connections — p95 latency 267 ms, 0 errors.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~360 requests/s at 400 concurrent connections — no avalanche, graceful degradation.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Bottleneck fixes applied: knowledge-base pre-computation + LRU cache (5,000 entries) + write-behind batch queue.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Observability: every LLM call logged with provider / model / latency / token usage / status (ok · degraded · error).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RAG answer hit-rate and KB cache hit-rate tracked as live metrics.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148;p25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149;p25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28" name="TextBox 151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4285F4"/>
                </a:solidFill>
                <a:latin typeface="Arial"/>
              </a:rPr>
              <a:t>Current status:  production-ready codebase — 9 automated verification suites, all green.</a:t>
            </a:r>
            <a:endParaRPr/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02124"/>
                </a:solidFill>
                <a:latin typeface="Arial"/>
              </a:rPr>
              <a:t>Roadmap:</a:t>
            </a:r>
            <a:endParaRPr/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Firebase Auth for end-customer identity and Firestore multi-tenant data isolation.</a:t>
            </a:r>
            <a:endParaRPr/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Firebase Hosting + Firebase Extensions for one-click install from the Firebase console.</a:t>
            </a:r>
            <a:endParaRPr/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WebSocket token streaming for real-time responses; multilingual support.</a:t>
            </a:r>
            <a:endParaRPr/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Mobile SDK and a self-serve onboarding wizard for non-developers.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156;p26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57;p26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  https://github.com/Aqr325/embeddesk   (branch: hack2skill)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  https://youtu.be/N7_jOGu725s   —  embeddesk-demo.mp4 (3 min 29 s, 1920×1080)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  https://embeddesk.web.app   (Firebase Hosting + Render API)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164;p27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165;p27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171;p28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172;p28" title="Frame 145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2026-10-18T22:31:57Z</dcterms:created>
  <dcterms:modified xsi:type="dcterms:W3CDTF">2026-10-18T22:31:57Z</dcterms:modified>
</cp:coreProperties>
</file>